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9" r:id="rId4"/>
    <p:sldId id="273" r:id="rId5"/>
    <p:sldId id="271" r:id="rId6"/>
    <p:sldId id="266" r:id="rId7"/>
    <p:sldId id="272" r:id="rId8"/>
    <p:sldId id="261" r:id="rId9"/>
    <p:sldId id="265" r:id="rId10"/>
    <p:sldId id="267" r:id="rId11"/>
    <p:sldId id="268" r:id="rId12"/>
    <p:sldId id="270" r:id="rId13"/>
    <p:sldId id="274" r:id="rId14"/>
  </p:sldIdLst>
  <p:sldSz cx="9144000" cy="5143500" type="screen16x9"/>
  <p:notesSz cx="5143500" cy="9144000"/>
  <p:embeddedFontLst>
    <p:embeddedFont>
      <p:font typeface="Alexandria SemiBold" panose="020B0604020202020204" charset="-78"/>
      <p:regular r:id="rId16"/>
    </p:embeddedFont>
    <p:embeddedFont>
      <p:font typeface="Instrument Sans Medium" panose="020B0604020202020204" charset="0"/>
      <p:regular r:id="rId17"/>
    </p:embeddedFont>
    <p:embeddedFont>
      <p:font typeface="Sora Light"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231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33329-2838-40BD-3595-E0C69A5A6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DDDE58-58E8-CCFF-9193-0AF58A1FF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85E43-9516-97A7-D7CA-6CF2525682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82C40E-AC98-E2CB-3CD3-B6FB4CEB408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128221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IN"/>
          </a:p>
        </p:txBody>
      </p:sp>
      <p:sp>
        <p:nvSpPr>
          <p:cNvPr id="3" name="Shape 1"/>
          <p:cNvSpPr/>
          <p:nvPr/>
        </p:nvSpPr>
        <p:spPr>
          <a:xfrm>
            <a:off x="0" y="0"/>
            <a:ext cx="9144000" cy="5143500"/>
          </a:xfrm>
          <a:prstGeom prst="rect">
            <a:avLst/>
          </a:prstGeom>
          <a:solidFill>
            <a:srgbClr val="FFFAFA"/>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cker--project.streamlit.app/"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3.png"/><Relationship Id="rId4" Type="http://schemas.openxmlformats.org/officeDocument/2006/relationships/hyperlink" Target="https://github.com/abinandhuk007/ai-docker-health-dashboard"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02943" y="473199"/>
            <a:ext cx="4767114" cy="890885"/>
          </a:xfrm>
          <a:prstGeom prst="rect">
            <a:avLst/>
          </a:prstGeom>
          <a:noFill/>
          <a:ln/>
        </p:spPr>
        <p:txBody>
          <a:bodyPr wrap="square" lIns="0" tIns="0" rIns="0" bIns="0" rtlCol="0" anchor="t">
            <a:normAutofit/>
          </a:bodyPr>
          <a:lstStyle/>
          <a:p>
            <a:pPr marL="0" indent="0" algn="l">
              <a:lnSpc>
                <a:spcPct val="104000"/>
              </a:lnSpc>
              <a:buNone/>
            </a:pPr>
            <a:r>
              <a:rPr lang="en-US" sz="2800" dirty="0">
                <a:solidFill>
                  <a:srgbClr val="1F1E1E"/>
                </a:solidFill>
                <a:latin typeface="Alexandria SemiBold" pitchFamily="34" charset="0"/>
                <a:ea typeface="Alexandria SemiBold" pitchFamily="34" charset="-122"/>
                <a:cs typeface="Alexandria SemiBold" pitchFamily="34" charset="-120"/>
              </a:rPr>
              <a:t>AI-Powered Docker Monitoring Assistant</a:t>
            </a:r>
            <a:endParaRPr lang="en-US" sz="2800" dirty="0"/>
          </a:p>
        </p:txBody>
      </p:sp>
      <p:sp>
        <p:nvSpPr>
          <p:cNvPr id="5" name="Shape 2"/>
          <p:cNvSpPr/>
          <p:nvPr/>
        </p:nvSpPr>
        <p:spPr>
          <a:xfrm>
            <a:off x="4832253" y="2510507"/>
            <a:ext cx="2315840" cy="1234157"/>
          </a:xfrm>
          <a:prstGeom prst="roundRect">
            <a:avLst>
              <a:gd name="adj" fmla="val 4608"/>
            </a:avLst>
          </a:prstGeom>
          <a:solidFill>
            <a:srgbClr val="D5DCF6"/>
          </a:solidFill>
          <a:ln w="4763">
            <a:solidFill>
              <a:srgbClr val="BBC2DC"/>
            </a:solidFill>
            <a:prstDash val="solid"/>
          </a:ln>
        </p:spPr>
        <p:txBody>
          <a:bodyPr/>
          <a:lstStyle/>
          <a:p>
            <a:endParaRPr lang="en-IN"/>
          </a:p>
        </p:txBody>
      </p:sp>
      <p:sp>
        <p:nvSpPr>
          <p:cNvPr id="6" name="Text 3"/>
          <p:cNvSpPr/>
          <p:nvPr/>
        </p:nvSpPr>
        <p:spPr>
          <a:xfrm>
            <a:off x="5210684" y="2641514"/>
            <a:ext cx="1781696" cy="222647"/>
          </a:xfrm>
          <a:prstGeom prst="rect">
            <a:avLst/>
          </a:prstGeom>
          <a:noFill/>
          <a:ln/>
        </p:spPr>
        <p:txBody>
          <a:bodyPr wrap="none" lIns="0" tIns="0" rIns="0" bIns="0" rtlCol="0" anchor="t"/>
          <a:lstStyle/>
          <a:p>
            <a:pPr marL="0" indent="0" algn="l">
              <a:lnSpc>
                <a:spcPct val="104000"/>
              </a:lnSpc>
              <a:buNone/>
            </a:pPr>
            <a:r>
              <a:rPr lang="en-US" sz="1400" dirty="0">
                <a:solidFill>
                  <a:srgbClr val="3B3535"/>
                </a:solidFill>
                <a:latin typeface="Alexandria SemiBold" pitchFamily="34" charset="0"/>
                <a:ea typeface="Alexandria SemiBold" pitchFamily="34" charset="-122"/>
                <a:cs typeface="Alexandria SemiBold" pitchFamily="34" charset="-120"/>
              </a:rPr>
              <a:t>Team</a:t>
            </a:r>
            <a:endParaRPr lang="en-US" sz="1400" dirty="0"/>
          </a:p>
        </p:txBody>
      </p:sp>
      <p:sp>
        <p:nvSpPr>
          <p:cNvPr id="7" name="Text 4"/>
          <p:cNvSpPr/>
          <p:nvPr/>
        </p:nvSpPr>
        <p:spPr>
          <a:xfrm>
            <a:off x="5268701" y="3076352"/>
            <a:ext cx="2035597" cy="650081"/>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3B3535"/>
                </a:solidFill>
                <a:latin typeface="Sora Light" pitchFamily="34" charset="0"/>
                <a:ea typeface="Sora Light" pitchFamily="34" charset="-122"/>
                <a:cs typeface="Sora Light" pitchFamily="34" charset="-120"/>
              </a:rPr>
              <a:t>ALPHA BUILDERS</a:t>
            </a:r>
            <a:endParaRPr lang="en-US" sz="1050" dirty="0"/>
          </a:p>
        </p:txBody>
      </p:sp>
      <p:pic>
        <p:nvPicPr>
          <p:cNvPr id="15" name="Picture 14">
            <a:extLst>
              <a:ext uri="{FF2B5EF4-FFF2-40B4-BE49-F238E27FC236}">
                <a16:creationId xmlns:a16="http://schemas.microsoft.com/office/drawing/2014/main" id="{4C87A834-DF8A-0E67-F7DD-922052842BC1}"/>
              </a:ext>
            </a:extLst>
          </p:cNvPr>
          <p:cNvPicPr>
            <a:picLocks noChangeAspect="1"/>
          </p:cNvPicPr>
          <p:nvPr/>
        </p:nvPicPr>
        <p:blipFill>
          <a:blip r:embed="rId4"/>
          <a:stretch>
            <a:fillRect/>
          </a:stretch>
        </p:blipFill>
        <p:spPr>
          <a:xfrm>
            <a:off x="6992380" y="4792677"/>
            <a:ext cx="2065199" cy="3508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55894" y="248766"/>
            <a:ext cx="6863060" cy="445443"/>
          </a:xfrm>
          <a:prstGeom prst="rect">
            <a:avLst/>
          </a:prstGeom>
          <a:noFill/>
          <a:ln/>
        </p:spPr>
        <p:txBody>
          <a:bodyPr wrap="none" lIns="0" tIns="0" rIns="0" bIns="0" rtlCol="0" anchor="t"/>
          <a:lstStyle/>
          <a:p>
            <a:pPr marL="0" indent="0" algn="l">
              <a:lnSpc>
                <a:spcPct val="104000"/>
              </a:lnSpc>
              <a:buNone/>
            </a:pPr>
            <a:r>
              <a:rPr lang="en-US" sz="2800" dirty="0">
                <a:solidFill>
                  <a:srgbClr val="1F1E1E"/>
                </a:solidFill>
                <a:latin typeface="Alexandria SemiBold" pitchFamily="34" charset="0"/>
                <a:ea typeface="Alexandria SemiBold" pitchFamily="34" charset="-122"/>
                <a:cs typeface="Alexandria SemiBold" pitchFamily="34" charset="-120"/>
              </a:rPr>
              <a:t>Problem Statement</a:t>
            </a:r>
            <a:endParaRPr lang="en-US" sz="2800" dirty="0"/>
          </a:p>
        </p:txBody>
      </p:sp>
      <p:sp>
        <p:nvSpPr>
          <p:cNvPr id="3" name="Text 1"/>
          <p:cNvSpPr/>
          <p:nvPr/>
        </p:nvSpPr>
        <p:spPr>
          <a:xfrm>
            <a:off x="501469" y="1286954"/>
            <a:ext cx="6996611" cy="2511323"/>
          </a:xfrm>
          <a:prstGeom prst="rect">
            <a:avLst/>
          </a:prstGeom>
          <a:noFill/>
          <a:ln/>
        </p:spPr>
        <p:txBody>
          <a:bodyPr wrap="square" lIns="0" tIns="0" rIns="0" bIns="0" rtlCol="0" anchor="t">
            <a:normAutofit fontScale="77500" lnSpcReduction="20000"/>
          </a:bodyPr>
          <a:lstStyle/>
          <a:p>
            <a:pPr>
              <a:lnSpc>
                <a:spcPct val="114000"/>
              </a:lnSpc>
              <a:spcAft>
                <a:spcPts val="450"/>
              </a:spcAft>
            </a:pPr>
            <a:r>
              <a:rPr lang="en-US" dirty="0"/>
              <a:t>Modern applications run inside Docker containers that must remain healthy and modern IT environments, applications are commonly deployed and managed using Docker containers to ensure scalability, portability, and efficient resource utilization. However, monitoring container health, identifying failures, and troubleshooting issues typically require users to interact with command-line tools and execute complex Docker commands. This process demands technical expertise and can be challenging for non-technical users, beginners, and support teams.</a:t>
            </a:r>
          </a:p>
          <a:p>
            <a:pPr>
              <a:lnSpc>
                <a:spcPct val="114000"/>
              </a:lnSpc>
              <a:spcAft>
                <a:spcPts val="450"/>
              </a:spcAft>
            </a:pPr>
            <a:endParaRPr lang="en-US" dirty="0"/>
          </a:p>
          <a:p>
            <a:pPr>
              <a:lnSpc>
                <a:spcPct val="114000"/>
              </a:lnSpc>
            </a:pPr>
            <a:r>
              <a:rPr lang="en-US" dirty="0"/>
              <a:t>When containers become unhealthy, stop unexpectedly, or repeatedly restart, users must manually inspect container status, logs, and health information through terminal-based commands. This approach is time-consuming, difficult to learn, and often delays issue detection and resolution.</a:t>
            </a:r>
          </a:p>
        </p:txBody>
      </p:sp>
      <p:pic>
        <p:nvPicPr>
          <p:cNvPr id="4" name="Image 0" descr="preencoded.png"/>
          <p:cNvPicPr>
            <a:picLocks noChangeAspect="1"/>
          </p:cNvPicPr>
          <p:nvPr/>
        </p:nvPicPr>
        <p:blipFill>
          <a:blip r:embed="rId3"/>
          <a:stretch>
            <a:fillRect/>
          </a:stretch>
        </p:blipFill>
        <p:spPr>
          <a:xfrm>
            <a:off x="7718195" y="2703872"/>
            <a:ext cx="1163836" cy="719286"/>
          </a:xfrm>
          <a:prstGeom prst="rect">
            <a:avLst/>
          </a:prstGeom>
        </p:spPr>
      </p:pic>
      <p:pic>
        <p:nvPicPr>
          <p:cNvPr id="7" name="Image 1" descr="preencoded.png"/>
          <p:cNvPicPr>
            <a:picLocks noChangeAspect="1"/>
          </p:cNvPicPr>
          <p:nvPr/>
        </p:nvPicPr>
        <p:blipFill>
          <a:blip r:embed="rId4"/>
          <a:stretch>
            <a:fillRect/>
          </a:stretch>
        </p:blipFill>
        <p:spPr>
          <a:xfrm>
            <a:off x="7660062" y="1626469"/>
            <a:ext cx="1163836" cy="719286"/>
          </a:xfrm>
          <a:prstGeom prst="rect">
            <a:avLst/>
          </a:prstGeom>
        </p:spPr>
      </p:pic>
      <p:pic>
        <p:nvPicPr>
          <p:cNvPr id="13" name="Picture 12">
            <a:extLst>
              <a:ext uri="{FF2B5EF4-FFF2-40B4-BE49-F238E27FC236}">
                <a16:creationId xmlns:a16="http://schemas.microsoft.com/office/drawing/2014/main" id="{540E871D-6B82-6872-3887-E6A47447C021}"/>
              </a:ext>
            </a:extLst>
          </p:cNvPr>
          <p:cNvPicPr>
            <a:picLocks noChangeAspect="1"/>
          </p:cNvPicPr>
          <p:nvPr/>
        </p:nvPicPr>
        <p:blipFill>
          <a:blip r:embed="rId5"/>
          <a:stretch>
            <a:fillRect/>
          </a:stretch>
        </p:blipFill>
        <p:spPr>
          <a:xfrm>
            <a:off x="7078801" y="4824692"/>
            <a:ext cx="2065199" cy="285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96570" y="455275"/>
            <a:ext cx="4958283" cy="445443"/>
          </a:xfrm>
          <a:prstGeom prst="rect">
            <a:avLst/>
          </a:prstGeom>
          <a:noFill/>
          <a:ln/>
        </p:spPr>
        <p:txBody>
          <a:bodyPr wrap="none" lIns="0" tIns="0" rIns="0" bIns="0" rtlCol="0" anchor="t"/>
          <a:lstStyle/>
          <a:p>
            <a:pPr marL="0" indent="0" algn="l">
              <a:lnSpc>
                <a:spcPct val="104000"/>
              </a:lnSpc>
              <a:buNone/>
            </a:pPr>
            <a:r>
              <a:rPr lang="en-US" sz="2800" dirty="0">
                <a:solidFill>
                  <a:srgbClr val="1F1E1E"/>
                </a:solidFill>
                <a:latin typeface="Alexandria SemiBold" pitchFamily="34" charset="0"/>
                <a:ea typeface="Alexandria SemiBold" pitchFamily="34" charset="-122"/>
                <a:cs typeface="Alexandria SemiBold" pitchFamily="34" charset="-120"/>
              </a:rPr>
              <a:t>Our AI-Powered Solution</a:t>
            </a:r>
            <a:endParaRPr lang="en-US" sz="2800" dirty="0"/>
          </a:p>
        </p:txBody>
      </p:sp>
      <p:sp>
        <p:nvSpPr>
          <p:cNvPr id="3" name="Text 1"/>
          <p:cNvSpPr/>
          <p:nvPr/>
        </p:nvSpPr>
        <p:spPr>
          <a:xfrm>
            <a:off x="473943" y="1409742"/>
            <a:ext cx="8196114" cy="433388"/>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3B3535"/>
                </a:solidFill>
                <a:latin typeface="Sora Light" pitchFamily="34" charset="0"/>
                <a:ea typeface="Sora Light" pitchFamily="34" charset="-122"/>
                <a:cs typeface="Sora Light" pitchFamily="34" charset="-120"/>
              </a:rPr>
              <a:t>Allow users to ask questions in plain English. The system maps intent to safe Docker SDK calls, gathers data, and returns concise diagnostics, root-cause hypotheses and suggested next steps.</a:t>
            </a:r>
            <a:endParaRPr lang="en-US" sz="1050" dirty="0"/>
          </a:p>
        </p:txBody>
      </p:sp>
      <p:pic>
        <p:nvPicPr>
          <p:cNvPr id="4" name="Image 0" descr="preencoded.png"/>
          <p:cNvPicPr>
            <a:picLocks noChangeAspect="1"/>
          </p:cNvPicPr>
          <p:nvPr/>
        </p:nvPicPr>
        <p:blipFill>
          <a:blip r:embed="rId3"/>
          <a:stretch>
            <a:fillRect/>
          </a:stretch>
        </p:blipFill>
        <p:spPr>
          <a:xfrm>
            <a:off x="473943" y="2481709"/>
            <a:ext cx="882923" cy="1103635"/>
          </a:xfrm>
          <a:prstGeom prst="rect">
            <a:avLst/>
          </a:prstGeom>
        </p:spPr>
      </p:pic>
      <p:sp>
        <p:nvSpPr>
          <p:cNvPr id="5" name="Text 2"/>
          <p:cNvSpPr/>
          <p:nvPr/>
        </p:nvSpPr>
        <p:spPr>
          <a:xfrm>
            <a:off x="1526084" y="2481709"/>
            <a:ext cx="2536850" cy="222647"/>
          </a:xfrm>
          <a:prstGeom prst="rect">
            <a:avLst/>
          </a:prstGeom>
          <a:noFill/>
          <a:ln/>
        </p:spPr>
        <p:txBody>
          <a:bodyPr wrap="none" lIns="0" tIns="0" rIns="0" bIns="0" rtlCol="0" anchor="t"/>
          <a:lstStyle/>
          <a:p>
            <a:pPr marL="0" indent="0" algn="l">
              <a:lnSpc>
                <a:spcPct val="104000"/>
              </a:lnSpc>
              <a:buNone/>
            </a:pPr>
            <a:r>
              <a:rPr lang="en-US" sz="1400" dirty="0">
                <a:solidFill>
                  <a:srgbClr val="3B3535"/>
                </a:solidFill>
                <a:latin typeface="Alexandria SemiBold" pitchFamily="34" charset="0"/>
                <a:ea typeface="Alexandria SemiBold" pitchFamily="34" charset="-122"/>
                <a:cs typeface="Alexandria SemiBold" pitchFamily="34" charset="-120"/>
              </a:rPr>
              <a:t>Natural Language Examples</a:t>
            </a:r>
            <a:endParaRPr lang="en-US" sz="1400" dirty="0"/>
          </a:p>
        </p:txBody>
      </p:sp>
      <p:sp>
        <p:nvSpPr>
          <p:cNvPr id="6" name="Text 3"/>
          <p:cNvSpPr/>
          <p:nvPr/>
        </p:nvSpPr>
        <p:spPr>
          <a:xfrm>
            <a:off x="1526084" y="2785542"/>
            <a:ext cx="2961308" cy="961430"/>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50" dirty="0">
                <a:solidFill>
                  <a:srgbClr val="3B3535"/>
                </a:solidFill>
                <a:latin typeface="Sora Light" pitchFamily="34" charset="0"/>
                <a:ea typeface="Sora Light" pitchFamily="34" charset="-122"/>
                <a:cs typeface="Sora Light" pitchFamily="34" charset="-120"/>
              </a:rPr>
              <a:t>"Show unhealthy containers"</a:t>
            </a:r>
            <a:endParaRPr lang="en-US" sz="1050" dirty="0"/>
          </a:p>
          <a:p>
            <a:pPr marL="342900" indent="-342900" algn="l">
              <a:lnSpc>
                <a:spcPct val="133000"/>
              </a:lnSpc>
              <a:buSzPct val="100000"/>
              <a:buChar char="•"/>
            </a:pPr>
            <a:r>
              <a:rPr lang="en-US" sz="1050" dirty="0">
                <a:solidFill>
                  <a:srgbClr val="3B3535"/>
                </a:solidFill>
                <a:latin typeface="Sora Light" pitchFamily="34" charset="0"/>
                <a:ea typeface="Sora Light" pitchFamily="34" charset="-122"/>
                <a:cs typeface="Sora Light" pitchFamily="34" charset="-120"/>
              </a:rPr>
              <a:t>"Why is redis-cache restarting?"</a:t>
            </a:r>
            <a:endParaRPr lang="en-US" sz="1050" dirty="0"/>
          </a:p>
          <a:p>
            <a:pPr marL="342900" indent="-342900" algn="l">
              <a:lnSpc>
                <a:spcPct val="133000"/>
              </a:lnSpc>
              <a:buSzPct val="100000"/>
              <a:buChar char="•"/>
            </a:pPr>
            <a:r>
              <a:rPr lang="en-US" sz="1050" dirty="0">
                <a:solidFill>
                  <a:srgbClr val="3B3535"/>
                </a:solidFill>
                <a:latin typeface="Sora Light" pitchFamily="34" charset="0"/>
                <a:ea typeface="Sora Light" pitchFamily="34" charset="-122"/>
                <a:cs typeface="Sora Light" pitchFamily="34" charset="-120"/>
              </a:rPr>
              <a:t>"Show logs for nginx from last 30 minutes"</a:t>
            </a:r>
            <a:endParaRPr lang="en-US" sz="1050" dirty="0"/>
          </a:p>
        </p:txBody>
      </p:sp>
      <p:pic>
        <p:nvPicPr>
          <p:cNvPr id="7" name="Image 1" descr="preencoded.png"/>
          <p:cNvPicPr>
            <a:picLocks noChangeAspect="1"/>
          </p:cNvPicPr>
          <p:nvPr/>
        </p:nvPicPr>
        <p:blipFill>
          <a:blip r:embed="rId4"/>
          <a:stretch>
            <a:fillRect/>
          </a:stretch>
        </p:blipFill>
        <p:spPr>
          <a:xfrm>
            <a:off x="4656609" y="2481709"/>
            <a:ext cx="882923" cy="1103635"/>
          </a:xfrm>
          <a:prstGeom prst="rect">
            <a:avLst/>
          </a:prstGeom>
        </p:spPr>
      </p:pic>
      <p:sp>
        <p:nvSpPr>
          <p:cNvPr id="8" name="Text 4"/>
          <p:cNvSpPr/>
          <p:nvPr/>
        </p:nvSpPr>
        <p:spPr>
          <a:xfrm>
            <a:off x="5708749" y="2481709"/>
            <a:ext cx="1781696" cy="222647"/>
          </a:xfrm>
          <a:prstGeom prst="rect">
            <a:avLst/>
          </a:prstGeom>
          <a:noFill/>
          <a:ln/>
        </p:spPr>
        <p:txBody>
          <a:bodyPr wrap="none" lIns="0" tIns="0" rIns="0" bIns="0" rtlCol="0" anchor="t"/>
          <a:lstStyle/>
          <a:p>
            <a:pPr marL="0" indent="0" algn="l">
              <a:lnSpc>
                <a:spcPct val="104000"/>
              </a:lnSpc>
              <a:buNone/>
            </a:pPr>
            <a:r>
              <a:rPr lang="en-US" sz="1400" dirty="0">
                <a:solidFill>
                  <a:srgbClr val="3B3535"/>
                </a:solidFill>
                <a:latin typeface="Alexandria SemiBold" pitchFamily="34" charset="0"/>
                <a:ea typeface="Alexandria SemiBold" pitchFamily="34" charset="-122"/>
                <a:cs typeface="Alexandria SemiBold" pitchFamily="34" charset="-120"/>
              </a:rPr>
              <a:t>System Actions</a:t>
            </a:r>
            <a:endParaRPr lang="en-US" sz="1400" dirty="0"/>
          </a:p>
        </p:txBody>
      </p:sp>
      <p:sp>
        <p:nvSpPr>
          <p:cNvPr id="9" name="Text 5"/>
          <p:cNvSpPr/>
          <p:nvPr/>
        </p:nvSpPr>
        <p:spPr>
          <a:xfrm>
            <a:off x="5708749" y="2785542"/>
            <a:ext cx="2961308" cy="1178123"/>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50" dirty="0">
                <a:solidFill>
                  <a:srgbClr val="3B3535"/>
                </a:solidFill>
                <a:latin typeface="Sora Light" pitchFamily="34" charset="0"/>
                <a:ea typeface="Sora Light" pitchFamily="34" charset="-122"/>
                <a:cs typeface="Sora Light" pitchFamily="34" charset="-120"/>
              </a:rPr>
              <a:t>Understand intent and entities</a:t>
            </a:r>
            <a:endParaRPr lang="en-US" sz="1050" dirty="0"/>
          </a:p>
          <a:p>
            <a:pPr marL="342900" indent="-342900" algn="l">
              <a:lnSpc>
                <a:spcPct val="133000"/>
              </a:lnSpc>
              <a:buSzPct val="100000"/>
              <a:buChar char="•"/>
            </a:pPr>
            <a:r>
              <a:rPr lang="en-US" sz="1050" dirty="0">
                <a:solidFill>
                  <a:srgbClr val="3B3535"/>
                </a:solidFill>
                <a:latin typeface="Sora Light" pitchFamily="34" charset="0"/>
                <a:ea typeface="Sora Light" pitchFamily="34" charset="-122"/>
                <a:cs typeface="Sora Light" pitchFamily="34" charset="-120"/>
              </a:rPr>
              <a:t>Retrieve structured container data via Docker SDK</a:t>
            </a:r>
            <a:endParaRPr lang="en-US" sz="1050" dirty="0"/>
          </a:p>
          <a:p>
            <a:pPr marL="342900" indent="-342900" algn="l">
              <a:lnSpc>
                <a:spcPct val="133000"/>
              </a:lnSpc>
              <a:buSzPct val="100000"/>
              <a:buChar char="•"/>
            </a:pPr>
            <a:r>
              <a:rPr lang="en-US" sz="1050" dirty="0">
                <a:solidFill>
                  <a:srgbClr val="3B3535"/>
                </a:solidFill>
                <a:latin typeface="Sora Light" pitchFamily="34" charset="0"/>
                <a:ea typeface="Sora Light" pitchFamily="34" charset="-122"/>
                <a:cs typeface="Sora Light" pitchFamily="34" charset="-120"/>
              </a:rPr>
              <a:t>Generate AI insights and remediation steps</a:t>
            </a:r>
            <a:endParaRPr lang="en-US" sz="1050" dirty="0"/>
          </a:p>
        </p:txBody>
      </p:sp>
      <p:pic>
        <p:nvPicPr>
          <p:cNvPr id="11" name="Picture 10">
            <a:extLst>
              <a:ext uri="{FF2B5EF4-FFF2-40B4-BE49-F238E27FC236}">
                <a16:creationId xmlns:a16="http://schemas.microsoft.com/office/drawing/2014/main" id="{3AB97B4C-8D4D-64F0-CF03-207CB589FC84}"/>
              </a:ext>
            </a:extLst>
          </p:cNvPr>
          <p:cNvPicPr>
            <a:picLocks noChangeAspect="1"/>
          </p:cNvPicPr>
          <p:nvPr/>
        </p:nvPicPr>
        <p:blipFill>
          <a:blip r:embed="rId5"/>
          <a:stretch>
            <a:fillRect/>
          </a:stretch>
        </p:blipFill>
        <p:spPr>
          <a:xfrm>
            <a:off x="7078801" y="4739124"/>
            <a:ext cx="2065199" cy="3339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78767-8AE4-1A01-C8F0-D2CE2BD1C438}"/>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9388AF8C-E798-11B0-EE12-4BD63AC712DE}"/>
              </a:ext>
            </a:extLst>
          </p:cNvPr>
          <p:cNvSpPr/>
          <p:nvPr/>
        </p:nvSpPr>
        <p:spPr>
          <a:xfrm>
            <a:off x="1859045" y="415886"/>
            <a:ext cx="5088939" cy="416691"/>
          </a:xfrm>
          <a:prstGeom prst="rect">
            <a:avLst/>
          </a:prstGeom>
          <a:noFill/>
          <a:ln/>
        </p:spPr>
        <p:txBody>
          <a:bodyPr wrap="none" lIns="0" tIns="0" rIns="0" bIns="0" rtlCol="0" anchor="t"/>
          <a:lstStyle/>
          <a:p>
            <a:pPr>
              <a:lnSpc>
                <a:spcPct val="104000"/>
              </a:lnSpc>
            </a:pPr>
            <a:r>
              <a:rPr lang="en-US" sz="2400" b="1" dirty="0">
                <a:solidFill>
                  <a:schemeClr val="tx2"/>
                </a:solidFill>
                <a:latin typeface="Instrument Sans Medium" pitchFamily="34" charset="0"/>
                <a:cs typeface="Instrument Sans Medium" pitchFamily="34" charset="-120"/>
              </a:rPr>
              <a:t>Traditional Method VS AI Dashboard</a:t>
            </a:r>
            <a:endParaRPr lang="en-US" sz="2400" b="1" dirty="0">
              <a:solidFill>
                <a:schemeClr val="tx2"/>
              </a:solidFill>
            </a:endParaRPr>
          </a:p>
        </p:txBody>
      </p:sp>
      <p:pic>
        <p:nvPicPr>
          <p:cNvPr id="9" name="Picture 8">
            <a:extLst>
              <a:ext uri="{FF2B5EF4-FFF2-40B4-BE49-F238E27FC236}">
                <a16:creationId xmlns:a16="http://schemas.microsoft.com/office/drawing/2014/main" id="{C3BF7B2F-4532-7E0A-0E58-19E9AC18CB7D}"/>
              </a:ext>
            </a:extLst>
          </p:cNvPr>
          <p:cNvPicPr>
            <a:picLocks noChangeAspect="1"/>
          </p:cNvPicPr>
          <p:nvPr/>
        </p:nvPicPr>
        <p:blipFill>
          <a:blip r:embed="rId2"/>
          <a:stretch>
            <a:fillRect/>
          </a:stretch>
        </p:blipFill>
        <p:spPr>
          <a:xfrm>
            <a:off x="7078801" y="4719711"/>
            <a:ext cx="2065199" cy="343789"/>
          </a:xfrm>
          <a:prstGeom prst="rect">
            <a:avLst/>
          </a:prstGeom>
        </p:spPr>
      </p:pic>
      <p:pic>
        <p:nvPicPr>
          <p:cNvPr id="3" name="Picture 2">
            <a:extLst>
              <a:ext uri="{FF2B5EF4-FFF2-40B4-BE49-F238E27FC236}">
                <a16:creationId xmlns:a16="http://schemas.microsoft.com/office/drawing/2014/main" id="{8FA7F7F5-3BD5-2EEC-C52C-891E4147AE79}"/>
              </a:ext>
            </a:extLst>
          </p:cNvPr>
          <p:cNvPicPr>
            <a:picLocks noChangeAspect="1"/>
          </p:cNvPicPr>
          <p:nvPr/>
        </p:nvPicPr>
        <p:blipFill>
          <a:blip r:embed="rId3"/>
          <a:stretch>
            <a:fillRect/>
          </a:stretch>
        </p:blipFill>
        <p:spPr>
          <a:xfrm>
            <a:off x="1714500" y="832576"/>
            <a:ext cx="5715000" cy="3853723"/>
          </a:xfrm>
          <a:prstGeom prst="rect">
            <a:avLst/>
          </a:prstGeom>
        </p:spPr>
      </p:pic>
    </p:spTree>
    <p:extLst>
      <p:ext uri="{BB962C8B-B14F-4D97-AF65-F5344CB8AC3E}">
        <p14:creationId xmlns:p14="http://schemas.microsoft.com/office/powerpoint/2010/main" val="422174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2C0F0061-0CC6-1E16-9439-86030C03F896}"/>
              </a:ext>
            </a:extLst>
          </p:cNvPr>
          <p:cNvPicPr>
            <a:picLocks noChangeAspect="1"/>
          </p:cNvPicPr>
          <p:nvPr/>
        </p:nvPicPr>
        <p:blipFill>
          <a:blip r:embed="rId2"/>
          <a:stretch>
            <a:fillRect/>
          </a:stretch>
        </p:blipFill>
        <p:spPr>
          <a:xfrm>
            <a:off x="2885610" y="619139"/>
            <a:ext cx="4017362" cy="4278816"/>
          </a:xfrm>
          <a:prstGeom prst="rect">
            <a:avLst/>
          </a:prstGeom>
        </p:spPr>
      </p:pic>
      <p:sp>
        <p:nvSpPr>
          <p:cNvPr id="5" name="Text 0">
            <a:extLst>
              <a:ext uri="{FF2B5EF4-FFF2-40B4-BE49-F238E27FC236}">
                <a16:creationId xmlns:a16="http://schemas.microsoft.com/office/drawing/2014/main" id="{49EB4EBF-9335-7DCB-3E82-276CC59E07FC}"/>
              </a:ext>
            </a:extLst>
          </p:cNvPr>
          <p:cNvSpPr/>
          <p:nvPr/>
        </p:nvSpPr>
        <p:spPr>
          <a:xfrm>
            <a:off x="327123" y="223996"/>
            <a:ext cx="2650036" cy="416691"/>
          </a:xfrm>
          <a:prstGeom prst="rect">
            <a:avLst/>
          </a:prstGeom>
          <a:noFill/>
          <a:ln/>
        </p:spPr>
        <p:txBody>
          <a:bodyPr wrap="none" lIns="0" tIns="0" rIns="0" bIns="0" rtlCol="0" anchor="t"/>
          <a:lstStyle/>
          <a:p>
            <a:pPr>
              <a:lnSpc>
                <a:spcPct val="104000"/>
              </a:lnSpc>
            </a:pPr>
            <a:r>
              <a:rPr lang="en-US" sz="2400" b="1" dirty="0">
                <a:solidFill>
                  <a:schemeClr val="tx2"/>
                </a:solidFill>
                <a:latin typeface="Instrument Sans Medium" pitchFamily="34" charset="0"/>
                <a:ea typeface="Instrument Sans Medium" pitchFamily="34" charset="-122"/>
                <a:cs typeface="Instrument Sans Medium" pitchFamily="34" charset="-120"/>
              </a:rPr>
              <a:t>Technology Stack</a:t>
            </a:r>
            <a:endParaRPr lang="en-US" sz="2400" b="1" dirty="0">
              <a:solidFill>
                <a:schemeClr val="tx2"/>
              </a:solidFill>
            </a:endParaRPr>
          </a:p>
        </p:txBody>
      </p:sp>
      <p:pic>
        <p:nvPicPr>
          <p:cNvPr id="2" name="Picture 1">
            <a:extLst>
              <a:ext uri="{FF2B5EF4-FFF2-40B4-BE49-F238E27FC236}">
                <a16:creationId xmlns:a16="http://schemas.microsoft.com/office/drawing/2014/main" id="{DA5C1F1F-DC49-28AE-BE24-0F5AD9F145D5}"/>
              </a:ext>
            </a:extLst>
          </p:cNvPr>
          <p:cNvPicPr>
            <a:picLocks noChangeAspect="1"/>
          </p:cNvPicPr>
          <p:nvPr/>
        </p:nvPicPr>
        <p:blipFill>
          <a:blip r:embed="rId3"/>
          <a:stretch>
            <a:fillRect/>
          </a:stretch>
        </p:blipFill>
        <p:spPr>
          <a:xfrm>
            <a:off x="7014120" y="4799711"/>
            <a:ext cx="2065199" cy="343789"/>
          </a:xfrm>
          <a:prstGeom prst="rect">
            <a:avLst/>
          </a:prstGeom>
        </p:spPr>
      </p:pic>
    </p:spTree>
    <p:extLst>
      <p:ext uri="{BB962C8B-B14F-4D97-AF65-F5344CB8AC3E}">
        <p14:creationId xmlns:p14="http://schemas.microsoft.com/office/powerpoint/2010/main" val="2928272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73943" y="550664"/>
            <a:ext cx="4651549" cy="445443"/>
          </a:xfrm>
          <a:prstGeom prst="rect">
            <a:avLst/>
          </a:prstGeom>
          <a:noFill/>
          <a:ln/>
        </p:spPr>
        <p:txBody>
          <a:bodyPr wrap="none" lIns="0" tIns="0" rIns="0" bIns="0" rtlCol="0" anchor="t"/>
          <a:lstStyle/>
          <a:p>
            <a:pPr marL="0" indent="0" algn="l">
              <a:lnSpc>
                <a:spcPct val="104000"/>
              </a:lnSpc>
              <a:buNone/>
            </a:pPr>
            <a:r>
              <a:rPr lang="en-US" sz="2800" dirty="0">
                <a:solidFill>
                  <a:srgbClr val="1F1E1E"/>
                </a:solidFill>
                <a:latin typeface="Alexandria SemiBold" pitchFamily="34" charset="0"/>
                <a:ea typeface="Alexandria SemiBold" pitchFamily="34" charset="-122"/>
                <a:cs typeface="Alexandria SemiBold" pitchFamily="34" charset="-120"/>
              </a:rPr>
              <a:t>How the System Works</a:t>
            </a:r>
            <a:endParaRPr lang="en-US" sz="2800" dirty="0"/>
          </a:p>
        </p:txBody>
      </p:sp>
      <p:sp>
        <p:nvSpPr>
          <p:cNvPr id="4" name="Text 1"/>
          <p:cNvSpPr/>
          <p:nvPr/>
        </p:nvSpPr>
        <p:spPr>
          <a:xfrm>
            <a:off x="473943" y="1199183"/>
            <a:ext cx="4767114" cy="650081"/>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3B3535"/>
                </a:solidFill>
                <a:latin typeface="Sora Light" pitchFamily="34" charset="0"/>
                <a:ea typeface="Sora Light" pitchFamily="34" charset="-122"/>
                <a:cs typeface="Sora Light" pitchFamily="34" charset="-120"/>
              </a:rPr>
              <a:t>A step-by-step view from user intent to dashboard—visualised as a numbered workflow so engineers can trace data flow and responsibility at each stage.</a:t>
            </a:r>
            <a:endParaRPr lang="en-US" sz="1050" dirty="0"/>
          </a:p>
        </p:txBody>
      </p:sp>
      <p:pic>
        <p:nvPicPr>
          <p:cNvPr id="5" name="Image 1" descr="preencoded.png"/>
          <p:cNvPicPr>
            <a:picLocks noChangeAspect="1"/>
          </p:cNvPicPr>
          <p:nvPr/>
        </p:nvPicPr>
        <p:blipFill>
          <a:blip r:embed="rId4"/>
          <a:stretch>
            <a:fillRect/>
          </a:stretch>
        </p:blipFill>
        <p:spPr>
          <a:xfrm>
            <a:off x="473943" y="2001589"/>
            <a:ext cx="4767114" cy="1788840"/>
          </a:xfrm>
          <a:prstGeom prst="rect">
            <a:avLst/>
          </a:prstGeom>
        </p:spPr>
      </p:pic>
      <p:sp>
        <p:nvSpPr>
          <p:cNvPr id="6" name="Text 2"/>
          <p:cNvSpPr/>
          <p:nvPr/>
        </p:nvSpPr>
        <p:spPr>
          <a:xfrm>
            <a:off x="4325725" y="3352478"/>
            <a:ext cx="719023" cy="145821"/>
          </a:xfrm>
          <a:prstGeom prst="rect">
            <a:avLst/>
          </a:prstGeom>
          <a:noFill/>
          <a:ln/>
        </p:spPr>
        <p:txBody>
          <a:bodyPr wrap="none" lIns="0" tIns="0" rIns="0" bIns="0" rtlCol="0" anchor="t"/>
          <a:lstStyle/>
          <a:p>
            <a:pPr marL="0" indent="0" algn="ctr">
              <a:lnSpc>
                <a:spcPct val="104000"/>
              </a:lnSpc>
              <a:buNone/>
            </a:pPr>
            <a:r>
              <a:rPr lang="en-US" sz="900" dirty="0">
                <a:solidFill>
                  <a:srgbClr val="3B3535"/>
                </a:solidFill>
                <a:latin typeface="Alexandria SemiBold" pitchFamily="34" charset="0"/>
                <a:ea typeface="Alexandria SemiBold" pitchFamily="34" charset="-122"/>
                <a:cs typeface="Alexandria SemiBold" pitchFamily="34" charset="-120"/>
              </a:rPr>
              <a:t>5. Intent</a:t>
            </a:r>
            <a:endParaRPr lang="en-US" sz="900" dirty="0"/>
          </a:p>
        </p:txBody>
      </p:sp>
      <p:sp>
        <p:nvSpPr>
          <p:cNvPr id="7" name="Text 3"/>
          <p:cNvSpPr/>
          <p:nvPr/>
        </p:nvSpPr>
        <p:spPr>
          <a:xfrm>
            <a:off x="3419559" y="3352478"/>
            <a:ext cx="719023" cy="145821"/>
          </a:xfrm>
          <a:prstGeom prst="rect">
            <a:avLst/>
          </a:prstGeom>
          <a:noFill/>
          <a:ln/>
        </p:spPr>
        <p:txBody>
          <a:bodyPr wrap="none" lIns="0" tIns="0" rIns="0" bIns="0" rtlCol="0" anchor="t"/>
          <a:lstStyle/>
          <a:p>
            <a:pPr marL="0" indent="0" algn="ctr">
              <a:lnSpc>
                <a:spcPct val="104000"/>
              </a:lnSpc>
              <a:buNone/>
            </a:pPr>
            <a:r>
              <a:rPr lang="en-US" sz="900" dirty="0">
                <a:solidFill>
                  <a:srgbClr val="3B3535"/>
                </a:solidFill>
                <a:latin typeface="Alexandria SemiBold" pitchFamily="34" charset="0"/>
                <a:ea typeface="Alexandria SemiBold" pitchFamily="34" charset="-122"/>
                <a:cs typeface="Alexandria SemiBold" pitchFamily="34" charset="-120"/>
              </a:rPr>
              <a:t>4. LLM</a:t>
            </a:r>
            <a:endParaRPr lang="en-US" sz="900" dirty="0"/>
          </a:p>
        </p:txBody>
      </p:sp>
      <p:sp>
        <p:nvSpPr>
          <p:cNvPr id="8" name="Text 4"/>
          <p:cNvSpPr/>
          <p:nvPr/>
        </p:nvSpPr>
        <p:spPr>
          <a:xfrm>
            <a:off x="2518318" y="3352478"/>
            <a:ext cx="719023" cy="145821"/>
          </a:xfrm>
          <a:prstGeom prst="rect">
            <a:avLst/>
          </a:prstGeom>
          <a:noFill/>
          <a:ln/>
        </p:spPr>
        <p:txBody>
          <a:bodyPr wrap="none" lIns="0" tIns="0" rIns="0" bIns="0" rtlCol="0" anchor="t"/>
          <a:lstStyle/>
          <a:p>
            <a:pPr marL="0" indent="0" algn="ctr">
              <a:lnSpc>
                <a:spcPct val="104000"/>
              </a:lnSpc>
              <a:buNone/>
            </a:pPr>
            <a:r>
              <a:rPr lang="en-US" sz="900" dirty="0">
                <a:solidFill>
                  <a:srgbClr val="3B3535"/>
                </a:solidFill>
                <a:latin typeface="Alexandria SemiBold" pitchFamily="34" charset="0"/>
                <a:ea typeface="Alexandria SemiBold" pitchFamily="34" charset="-122"/>
                <a:cs typeface="Alexandria SemiBold" pitchFamily="34" charset="-120"/>
              </a:rPr>
              <a:t>3. Executor</a:t>
            </a:r>
            <a:endParaRPr lang="en-US" sz="900" dirty="0"/>
          </a:p>
        </p:txBody>
      </p:sp>
      <p:sp>
        <p:nvSpPr>
          <p:cNvPr id="9" name="Text 5"/>
          <p:cNvSpPr/>
          <p:nvPr/>
        </p:nvSpPr>
        <p:spPr>
          <a:xfrm>
            <a:off x="1617077" y="3352478"/>
            <a:ext cx="719023" cy="145821"/>
          </a:xfrm>
          <a:prstGeom prst="rect">
            <a:avLst/>
          </a:prstGeom>
          <a:noFill/>
          <a:ln/>
        </p:spPr>
        <p:txBody>
          <a:bodyPr wrap="none" lIns="0" tIns="0" rIns="0" bIns="0" rtlCol="0" anchor="t"/>
          <a:lstStyle/>
          <a:p>
            <a:pPr marL="0" indent="0" algn="ctr">
              <a:lnSpc>
                <a:spcPct val="104000"/>
              </a:lnSpc>
              <a:buNone/>
            </a:pPr>
            <a:r>
              <a:rPr lang="en-US" sz="900" dirty="0">
                <a:solidFill>
                  <a:srgbClr val="3B3535"/>
                </a:solidFill>
                <a:latin typeface="Alexandria SemiBold" pitchFamily="34" charset="0"/>
                <a:ea typeface="Alexandria SemiBold" pitchFamily="34" charset="-122"/>
                <a:cs typeface="Alexandria SemiBold" pitchFamily="34" charset="-120"/>
              </a:rPr>
              <a:t>2. Capture</a:t>
            </a:r>
            <a:endParaRPr lang="en-US" sz="900" dirty="0"/>
          </a:p>
        </p:txBody>
      </p:sp>
      <p:sp>
        <p:nvSpPr>
          <p:cNvPr id="10" name="Text 6"/>
          <p:cNvSpPr/>
          <p:nvPr/>
        </p:nvSpPr>
        <p:spPr>
          <a:xfrm>
            <a:off x="696136" y="3352478"/>
            <a:ext cx="719023" cy="145821"/>
          </a:xfrm>
          <a:prstGeom prst="rect">
            <a:avLst/>
          </a:prstGeom>
          <a:noFill/>
          <a:ln/>
        </p:spPr>
        <p:txBody>
          <a:bodyPr wrap="none" lIns="0" tIns="0" rIns="0" bIns="0" rtlCol="0" anchor="t"/>
          <a:lstStyle/>
          <a:p>
            <a:pPr marL="0" indent="0" algn="ctr">
              <a:lnSpc>
                <a:spcPct val="104000"/>
              </a:lnSpc>
              <a:buNone/>
            </a:pPr>
            <a:r>
              <a:rPr lang="en-US" sz="900" dirty="0">
                <a:solidFill>
                  <a:srgbClr val="3B3535"/>
                </a:solidFill>
                <a:latin typeface="Alexandria SemiBold" pitchFamily="34" charset="0"/>
                <a:ea typeface="Alexandria SemiBold" pitchFamily="34" charset="-122"/>
                <a:cs typeface="Alexandria SemiBold" pitchFamily="34" charset="-120"/>
              </a:rPr>
              <a:t>1. Query</a:t>
            </a:r>
            <a:endParaRPr lang="en-US" sz="900" dirty="0"/>
          </a:p>
        </p:txBody>
      </p:sp>
      <p:sp>
        <p:nvSpPr>
          <p:cNvPr id="11" name="Text 7"/>
          <p:cNvSpPr/>
          <p:nvPr/>
        </p:nvSpPr>
        <p:spPr>
          <a:xfrm>
            <a:off x="473943" y="3942755"/>
            <a:ext cx="4767114" cy="650081"/>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3B3535"/>
                </a:solidFill>
                <a:latin typeface="Sora Light" pitchFamily="34" charset="0"/>
                <a:ea typeface="Sora Light" pitchFamily="34" charset="-122"/>
                <a:cs typeface="Sora Light" pitchFamily="34" charset="-120"/>
              </a:rPr>
              <a:t>Each step represents a clear handoff: frontend → orchestration → execution → analysis → presentation. This makes debugging, auditing and optimisation straightforward.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26E142-60AC-ADA3-BE14-8660B1533AE9}"/>
              </a:ext>
            </a:extLst>
          </p:cNvPr>
          <p:cNvPicPr>
            <a:picLocks noChangeAspect="1"/>
          </p:cNvPicPr>
          <p:nvPr/>
        </p:nvPicPr>
        <p:blipFill>
          <a:blip r:embed="rId2"/>
          <a:srcRect l="14266" r="14407"/>
          <a:stretch>
            <a:fillRect/>
          </a:stretch>
        </p:blipFill>
        <p:spPr>
          <a:xfrm>
            <a:off x="4384624" y="103268"/>
            <a:ext cx="3597638" cy="5040232"/>
          </a:xfrm>
          <a:prstGeom prst="rect">
            <a:avLst/>
          </a:prstGeom>
        </p:spPr>
      </p:pic>
      <p:sp>
        <p:nvSpPr>
          <p:cNvPr id="5" name="TextBox 4">
            <a:extLst>
              <a:ext uri="{FF2B5EF4-FFF2-40B4-BE49-F238E27FC236}">
                <a16:creationId xmlns:a16="http://schemas.microsoft.com/office/drawing/2014/main" id="{35364313-D596-94EC-C213-FD69BB5D8B5A}"/>
              </a:ext>
            </a:extLst>
          </p:cNvPr>
          <p:cNvSpPr txBox="1"/>
          <p:nvPr/>
        </p:nvSpPr>
        <p:spPr>
          <a:xfrm>
            <a:off x="367259" y="363373"/>
            <a:ext cx="3170420" cy="520463"/>
          </a:xfrm>
          <a:prstGeom prst="rect">
            <a:avLst/>
          </a:prstGeom>
          <a:noFill/>
        </p:spPr>
        <p:txBody>
          <a:bodyPr wrap="square">
            <a:spAutoFit/>
          </a:bodyPr>
          <a:lstStyle/>
          <a:p>
            <a:pPr marL="0" indent="0" algn="l">
              <a:lnSpc>
                <a:spcPct val="104000"/>
              </a:lnSpc>
              <a:buNone/>
            </a:pPr>
            <a:r>
              <a:rPr lang="en-US" sz="2800" b="1" dirty="0">
                <a:solidFill>
                  <a:schemeClr val="tx2"/>
                </a:solidFill>
                <a:latin typeface="Instrument Sans Medium" pitchFamily="34" charset="0"/>
                <a:ea typeface="Instrument Sans Medium" pitchFamily="34" charset="-122"/>
                <a:cs typeface="Instrument Sans Medium" pitchFamily="34" charset="-120"/>
              </a:rPr>
              <a:t>System Workflow</a:t>
            </a:r>
            <a:endParaRPr lang="en-US" sz="2800" b="1" dirty="0">
              <a:solidFill>
                <a:schemeClr val="tx2"/>
              </a:solidFill>
            </a:endParaRPr>
          </a:p>
        </p:txBody>
      </p:sp>
      <p:pic>
        <p:nvPicPr>
          <p:cNvPr id="2" name="Picture 1">
            <a:extLst>
              <a:ext uri="{FF2B5EF4-FFF2-40B4-BE49-F238E27FC236}">
                <a16:creationId xmlns:a16="http://schemas.microsoft.com/office/drawing/2014/main" id="{E7665D70-C540-8B15-F944-8EE813BAD689}"/>
              </a:ext>
            </a:extLst>
          </p:cNvPr>
          <p:cNvPicPr>
            <a:picLocks noChangeAspect="1"/>
          </p:cNvPicPr>
          <p:nvPr/>
        </p:nvPicPr>
        <p:blipFill>
          <a:blip r:embed="rId3"/>
          <a:stretch>
            <a:fillRect/>
          </a:stretch>
        </p:blipFill>
        <p:spPr>
          <a:xfrm>
            <a:off x="7866369" y="4799711"/>
            <a:ext cx="1277631" cy="343789"/>
          </a:xfrm>
          <a:prstGeom prst="rect">
            <a:avLst/>
          </a:prstGeom>
        </p:spPr>
      </p:pic>
    </p:spTree>
    <p:extLst>
      <p:ext uri="{BB962C8B-B14F-4D97-AF65-F5344CB8AC3E}">
        <p14:creationId xmlns:p14="http://schemas.microsoft.com/office/powerpoint/2010/main" val="3703929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652141" y="378916"/>
            <a:ext cx="4289301" cy="264393"/>
          </a:xfrm>
          <a:prstGeom prst="rect">
            <a:avLst/>
          </a:prstGeom>
          <a:noFill/>
          <a:ln/>
        </p:spPr>
        <p:txBody>
          <a:bodyPr wrap="none" lIns="0" tIns="0" rIns="0" bIns="0" rtlCol="0" anchor="t"/>
          <a:lstStyle/>
          <a:p>
            <a:pPr marL="0" indent="0" algn="l">
              <a:lnSpc>
                <a:spcPct val="104000"/>
              </a:lnSpc>
              <a:buNone/>
            </a:pPr>
            <a:r>
              <a:rPr lang="en-US" sz="1650" dirty="0">
                <a:solidFill>
                  <a:srgbClr val="1F1E1E"/>
                </a:solidFill>
                <a:latin typeface="Alexandria SemiBold" pitchFamily="34" charset="0"/>
                <a:ea typeface="Alexandria SemiBold" pitchFamily="34" charset="-122"/>
                <a:cs typeface="Alexandria SemiBold" pitchFamily="34" charset="-120"/>
              </a:rPr>
              <a:t>Understanding Docker Architecture</a:t>
            </a:r>
            <a:endParaRPr lang="en-US" sz="1650" dirty="0"/>
          </a:p>
        </p:txBody>
      </p:sp>
      <p:pic>
        <p:nvPicPr>
          <p:cNvPr id="3" name="Image 0" descr="preencoded.png"/>
          <p:cNvPicPr>
            <a:picLocks noChangeAspect="1"/>
          </p:cNvPicPr>
          <p:nvPr/>
        </p:nvPicPr>
        <p:blipFill>
          <a:blip r:embed="rId3"/>
          <a:stretch>
            <a:fillRect/>
          </a:stretch>
        </p:blipFill>
        <p:spPr>
          <a:xfrm>
            <a:off x="2512814" y="738783"/>
            <a:ext cx="4118372" cy="3177480"/>
          </a:xfrm>
          <a:prstGeom prst="rect">
            <a:avLst/>
          </a:prstGeom>
        </p:spPr>
      </p:pic>
      <p:sp>
        <p:nvSpPr>
          <p:cNvPr id="4" name="Text 1"/>
          <p:cNvSpPr/>
          <p:nvPr/>
        </p:nvSpPr>
        <p:spPr>
          <a:xfrm>
            <a:off x="4207600" y="2053882"/>
            <a:ext cx="718273" cy="518722"/>
          </a:xfrm>
          <a:prstGeom prst="rect">
            <a:avLst/>
          </a:prstGeom>
          <a:noFill/>
          <a:ln/>
        </p:spPr>
        <p:txBody>
          <a:bodyPr wrap="square" lIns="0" tIns="0" rIns="0" bIns="0" rtlCol="0" anchor="t">
            <a:normAutofit/>
          </a:bodyPr>
          <a:lstStyle/>
          <a:p>
            <a:pPr marL="0" indent="0" algn="ctr">
              <a:lnSpc>
                <a:spcPct val="104000"/>
              </a:lnSpc>
              <a:buNone/>
            </a:pPr>
            <a:r>
              <a:rPr lang="en-US" sz="1050" dirty="0">
                <a:solidFill>
                  <a:srgbClr val="FFFFFF"/>
                </a:solidFill>
                <a:latin typeface="Alexandria SemiBold" pitchFamily="34" charset="0"/>
                <a:ea typeface="Alexandria SemiBold" pitchFamily="34" charset="-122"/>
                <a:cs typeface="Alexandria SemiBold" pitchFamily="34" charset="-120"/>
              </a:rPr>
              <a:t>Docker Request Flow</a:t>
            </a:r>
            <a:endParaRPr lang="en-US" sz="1050" dirty="0"/>
          </a:p>
        </p:txBody>
      </p:sp>
      <p:sp>
        <p:nvSpPr>
          <p:cNvPr id="5" name="Text 2"/>
          <p:cNvSpPr/>
          <p:nvPr/>
        </p:nvSpPr>
        <p:spPr>
          <a:xfrm>
            <a:off x="4914194" y="3118700"/>
            <a:ext cx="1068559" cy="345815"/>
          </a:xfrm>
          <a:prstGeom prst="rect">
            <a:avLst/>
          </a:prstGeom>
          <a:noFill/>
          <a:ln/>
        </p:spPr>
        <p:txBody>
          <a:bodyPr wrap="square" lIns="0" tIns="0" rIns="0" bIns="0" rtlCol="0" anchor="t">
            <a:normAutofit/>
          </a:bodyPr>
          <a:lstStyle/>
          <a:p>
            <a:pPr marL="0" indent="0" algn="ctr">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Docker Daemon</a:t>
            </a:r>
            <a:endParaRPr lang="en-US" sz="1050" dirty="0"/>
          </a:p>
        </p:txBody>
      </p:sp>
      <p:sp>
        <p:nvSpPr>
          <p:cNvPr id="6" name="Text 3"/>
          <p:cNvSpPr/>
          <p:nvPr/>
        </p:nvSpPr>
        <p:spPr>
          <a:xfrm>
            <a:off x="4914194" y="3511232"/>
            <a:ext cx="1068559" cy="104657"/>
          </a:xfrm>
          <a:prstGeom prst="rect">
            <a:avLst/>
          </a:prstGeom>
          <a:noFill/>
          <a:ln/>
        </p:spPr>
        <p:txBody>
          <a:bodyPr wrap="none" lIns="0" tIns="0" rIns="0" bIns="0" rtlCol="0" anchor="t"/>
          <a:lstStyle/>
          <a:p>
            <a:pPr marL="0" indent="0" algn="ctr">
              <a:lnSpc>
                <a:spcPct val="83000"/>
              </a:lnSpc>
              <a:buNone/>
            </a:pPr>
            <a:r>
              <a:rPr lang="en-US" sz="800" dirty="0">
                <a:solidFill>
                  <a:srgbClr val="3B3535"/>
                </a:solidFill>
                <a:latin typeface="Sora Light" pitchFamily="34" charset="0"/>
                <a:ea typeface="Sora Light" pitchFamily="34" charset="-122"/>
                <a:cs typeface="Sora Light" pitchFamily="34" charset="-120"/>
              </a:rPr>
              <a:t>Handles requests</a:t>
            </a:r>
            <a:endParaRPr lang="en-US" sz="800" dirty="0"/>
          </a:p>
        </p:txBody>
      </p:sp>
      <p:sp>
        <p:nvSpPr>
          <p:cNvPr id="7" name="Text 4"/>
          <p:cNvSpPr/>
          <p:nvPr/>
        </p:nvSpPr>
        <p:spPr>
          <a:xfrm>
            <a:off x="2683460" y="2153977"/>
            <a:ext cx="1091917" cy="172907"/>
          </a:xfrm>
          <a:prstGeom prst="rect">
            <a:avLst/>
          </a:prstGeom>
          <a:noFill/>
          <a:ln/>
        </p:spPr>
        <p:txBody>
          <a:bodyPr wrap="none" lIns="0" tIns="0" rIns="0" bIns="0" rtlCol="0" anchor="t"/>
          <a:lstStyle/>
          <a:p>
            <a:pPr marL="0" indent="0" algn="ctr">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Containers</a:t>
            </a:r>
            <a:endParaRPr lang="en-US" sz="1050" dirty="0"/>
          </a:p>
        </p:txBody>
      </p:sp>
      <p:sp>
        <p:nvSpPr>
          <p:cNvPr id="8" name="Text 5"/>
          <p:cNvSpPr/>
          <p:nvPr/>
        </p:nvSpPr>
        <p:spPr>
          <a:xfrm>
            <a:off x="2683460" y="2373601"/>
            <a:ext cx="1091917" cy="104657"/>
          </a:xfrm>
          <a:prstGeom prst="rect">
            <a:avLst/>
          </a:prstGeom>
          <a:noFill/>
          <a:ln/>
        </p:spPr>
        <p:txBody>
          <a:bodyPr wrap="none" lIns="0" tIns="0" rIns="0" bIns="0" rtlCol="0" anchor="t"/>
          <a:lstStyle/>
          <a:p>
            <a:pPr marL="0" indent="0" algn="ctr">
              <a:lnSpc>
                <a:spcPct val="83000"/>
              </a:lnSpc>
              <a:buNone/>
            </a:pPr>
            <a:r>
              <a:rPr lang="en-US" sz="800" dirty="0">
                <a:solidFill>
                  <a:srgbClr val="3B3535"/>
                </a:solidFill>
                <a:latin typeface="Sora Light" pitchFamily="34" charset="0"/>
                <a:ea typeface="Sora Light" pitchFamily="34" charset="-122"/>
                <a:cs typeface="Sora Light" pitchFamily="34" charset="-120"/>
              </a:rPr>
              <a:t>Runtime instances</a:t>
            </a:r>
            <a:endParaRPr lang="en-US" sz="800" dirty="0"/>
          </a:p>
        </p:txBody>
      </p:sp>
      <p:sp>
        <p:nvSpPr>
          <p:cNvPr id="9" name="Text 6"/>
          <p:cNvSpPr/>
          <p:nvPr/>
        </p:nvSpPr>
        <p:spPr>
          <a:xfrm>
            <a:off x="3133111" y="3205108"/>
            <a:ext cx="1068559" cy="172907"/>
          </a:xfrm>
          <a:prstGeom prst="rect">
            <a:avLst/>
          </a:prstGeom>
          <a:noFill/>
          <a:ln/>
        </p:spPr>
        <p:txBody>
          <a:bodyPr wrap="none" lIns="0" tIns="0" rIns="0" bIns="0" rtlCol="0" anchor="t"/>
          <a:lstStyle/>
          <a:p>
            <a:pPr marL="0" indent="0" algn="ctr">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Images</a:t>
            </a:r>
            <a:endParaRPr lang="en-US" sz="1050" dirty="0"/>
          </a:p>
        </p:txBody>
      </p:sp>
      <p:sp>
        <p:nvSpPr>
          <p:cNvPr id="10" name="Text 7"/>
          <p:cNvSpPr/>
          <p:nvPr/>
        </p:nvSpPr>
        <p:spPr>
          <a:xfrm>
            <a:off x="3133111" y="3424733"/>
            <a:ext cx="1068559" cy="104657"/>
          </a:xfrm>
          <a:prstGeom prst="rect">
            <a:avLst/>
          </a:prstGeom>
          <a:noFill/>
          <a:ln/>
        </p:spPr>
        <p:txBody>
          <a:bodyPr wrap="none" lIns="0" tIns="0" rIns="0" bIns="0" rtlCol="0" anchor="t"/>
          <a:lstStyle/>
          <a:p>
            <a:pPr marL="0" indent="0" algn="ctr">
              <a:lnSpc>
                <a:spcPct val="83000"/>
              </a:lnSpc>
              <a:buNone/>
            </a:pPr>
            <a:r>
              <a:rPr lang="en-US" sz="800" dirty="0">
                <a:solidFill>
                  <a:srgbClr val="3B3535"/>
                </a:solidFill>
                <a:latin typeface="Sora Light" pitchFamily="34" charset="0"/>
                <a:ea typeface="Sora Light" pitchFamily="34" charset="-122"/>
                <a:cs typeface="Sora Light" pitchFamily="34" charset="-120"/>
              </a:rPr>
              <a:t>Managed artifacts</a:t>
            </a:r>
            <a:endParaRPr lang="en-US" sz="800" dirty="0"/>
          </a:p>
        </p:txBody>
      </p:sp>
      <p:sp>
        <p:nvSpPr>
          <p:cNvPr id="11" name="Text 8"/>
          <p:cNvSpPr/>
          <p:nvPr/>
        </p:nvSpPr>
        <p:spPr>
          <a:xfrm>
            <a:off x="5358006" y="2148137"/>
            <a:ext cx="1091918" cy="172907"/>
          </a:xfrm>
          <a:prstGeom prst="rect">
            <a:avLst/>
          </a:prstGeom>
          <a:noFill/>
          <a:ln/>
        </p:spPr>
        <p:txBody>
          <a:bodyPr wrap="none" lIns="0" tIns="0" rIns="0" bIns="0" rtlCol="0" anchor="t"/>
          <a:lstStyle/>
          <a:p>
            <a:pPr marL="0" indent="0" algn="ctr">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Docker SDK</a:t>
            </a:r>
            <a:endParaRPr lang="en-US" sz="1050" dirty="0"/>
          </a:p>
        </p:txBody>
      </p:sp>
      <p:sp>
        <p:nvSpPr>
          <p:cNvPr id="12" name="Text 9"/>
          <p:cNvSpPr/>
          <p:nvPr/>
        </p:nvSpPr>
        <p:spPr>
          <a:xfrm>
            <a:off x="5358006" y="2367762"/>
            <a:ext cx="1091918" cy="104657"/>
          </a:xfrm>
          <a:prstGeom prst="rect">
            <a:avLst/>
          </a:prstGeom>
          <a:noFill/>
          <a:ln/>
        </p:spPr>
        <p:txBody>
          <a:bodyPr wrap="none" lIns="0" tIns="0" rIns="0" bIns="0" rtlCol="0" anchor="t"/>
          <a:lstStyle/>
          <a:p>
            <a:pPr marL="0" indent="0" algn="ctr">
              <a:lnSpc>
                <a:spcPct val="83000"/>
              </a:lnSpc>
              <a:buNone/>
            </a:pPr>
            <a:r>
              <a:rPr lang="en-US" sz="800" dirty="0">
                <a:solidFill>
                  <a:srgbClr val="3B3535"/>
                </a:solidFill>
                <a:latin typeface="Sora Light" pitchFamily="34" charset="0"/>
                <a:ea typeface="Sora Light" pitchFamily="34" charset="-122"/>
                <a:cs typeface="Sora Light" pitchFamily="34" charset="-120"/>
              </a:rPr>
              <a:t>Client libraries (API)</a:t>
            </a:r>
            <a:endParaRPr lang="en-US" sz="800" dirty="0"/>
          </a:p>
        </p:txBody>
      </p:sp>
      <p:sp>
        <p:nvSpPr>
          <p:cNvPr id="13" name="Text 10"/>
          <p:cNvSpPr/>
          <p:nvPr/>
        </p:nvSpPr>
        <p:spPr>
          <a:xfrm>
            <a:off x="3997374" y="1000926"/>
            <a:ext cx="1097757" cy="172907"/>
          </a:xfrm>
          <a:prstGeom prst="rect">
            <a:avLst/>
          </a:prstGeom>
          <a:noFill/>
          <a:ln/>
        </p:spPr>
        <p:txBody>
          <a:bodyPr wrap="none" lIns="0" tIns="0" rIns="0" bIns="0" rtlCol="0" anchor="t"/>
          <a:lstStyle/>
          <a:p>
            <a:pPr marL="0" indent="0" algn="ctr">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Docker CLI</a:t>
            </a:r>
            <a:endParaRPr lang="en-US" sz="1050" dirty="0"/>
          </a:p>
        </p:txBody>
      </p:sp>
      <p:sp>
        <p:nvSpPr>
          <p:cNvPr id="14" name="Text 11"/>
          <p:cNvSpPr/>
          <p:nvPr/>
        </p:nvSpPr>
        <p:spPr>
          <a:xfrm>
            <a:off x="3997374" y="1220550"/>
            <a:ext cx="1097757" cy="209314"/>
          </a:xfrm>
          <a:prstGeom prst="rect">
            <a:avLst/>
          </a:prstGeom>
          <a:noFill/>
          <a:ln/>
        </p:spPr>
        <p:txBody>
          <a:bodyPr wrap="square" lIns="0" tIns="0" rIns="0" bIns="0" rtlCol="0" anchor="t">
            <a:normAutofit/>
          </a:bodyPr>
          <a:lstStyle/>
          <a:p>
            <a:pPr marL="0" indent="0" algn="ctr">
              <a:lnSpc>
                <a:spcPct val="83000"/>
              </a:lnSpc>
              <a:buNone/>
            </a:pPr>
            <a:r>
              <a:rPr lang="en-US" sz="800" dirty="0">
                <a:solidFill>
                  <a:srgbClr val="3B3535"/>
                </a:solidFill>
                <a:latin typeface="Sora Light" pitchFamily="34" charset="0"/>
                <a:ea typeface="Sora Light" pitchFamily="34" charset="-122"/>
                <a:cs typeface="Sora Light" pitchFamily="34" charset="-120"/>
              </a:rPr>
              <a:t>User commands sent</a:t>
            </a:r>
            <a:endParaRPr lang="en-US" sz="800" dirty="0"/>
          </a:p>
        </p:txBody>
      </p:sp>
      <p:sp>
        <p:nvSpPr>
          <p:cNvPr id="15" name="Text 12"/>
          <p:cNvSpPr/>
          <p:nvPr/>
        </p:nvSpPr>
        <p:spPr>
          <a:xfrm>
            <a:off x="1652141" y="3969916"/>
            <a:ext cx="6296918" cy="102468"/>
          </a:xfrm>
          <a:prstGeom prst="rect">
            <a:avLst/>
          </a:prstGeom>
          <a:noFill/>
          <a:ln/>
        </p:spPr>
        <p:txBody>
          <a:bodyPr wrap="none" lIns="0" tIns="0" rIns="0" bIns="0" rtlCol="0" anchor="t"/>
          <a:lstStyle/>
          <a:p>
            <a:pPr marL="0" indent="0" algn="l">
              <a:lnSpc>
                <a:spcPct val="106000"/>
              </a:lnSpc>
              <a:buNone/>
            </a:pPr>
            <a:r>
              <a:rPr lang="en-US" sz="600" dirty="0">
                <a:solidFill>
                  <a:srgbClr val="3B3535"/>
                </a:solidFill>
                <a:latin typeface="Sora Light" pitchFamily="34" charset="0"/>
                <a:ea typeface="Sora Light" pitchFamily="34" charset="-122"/>
                <a:cs typeface="Sora Light" pitchFamily="34" charset="-120"/>
              </a:rPr>
              <a:t>The diagram above summarises how components interact:</a:t>
            </a:r>
            <a:endParaRPr lang="en-US" sz="600" dirty="0"/>
          </a:p>
        </p:txBody>
      </p:sp>
      <p:sp>
        <p:nvSpPr>
          <p:cNvPr id="16" name="Shape 13"/>
          <p:cNvSpPr/>
          <p:nvPr/>
        </p:nvSpPr>
        <p:spPr>
          <a:xfrm>
            <a:off x="1652141" y="4126037"/>
            <a:ext cx="1914748" cy="638473"/>
          </a:xfrm>
          <a:prstGeom prst="roundRect">
            <a:avLst>
              <a:gd name="adj" fmla="val 5289"/>
            </a:avLst>
          </a:prstGeom>
          <a:solidFill>
            <a:srgbClr val="D5DCF6"/>
          </a:solidFill>
          <a:ln w="4763">
            <a:solidFill>
              <a:srgbClr val="BBC2DC"/>
            </a:solidFill>
            <a:prstDash val="solid"/>
          </a:ln>
        </p:spPr>
        <p:txBody>
          <a:bodyPr/>
          <a:lstStyle/>
          <a:p>
            <a:endParaRPr lang="en-IN"/>
          </a:p>
        </p:txBody>
      </p:sp>
      <p:sp>
        <p:nvSpPr>
          <p:cNvPr id="17" name="Text 14"/>
          <p:cNvSpPr/>
          <p:nvPr/>
        </p:nvSpPr>
        <p:spPr>
          <a:xfrm>
            <a:off x="1737271" y="4211166"/>
            <a:ext cx="1057870" cy="132234"/>
          </a:xfrm>
          <a:prstGeom prst="rect">
            <a:avLst/>
          </a:prstGeom>
          <a:noFill/>
          <a:ln/>
        </p:spPr>
        <p:txBody>
          <a:bodyPr wrap="none" lIns="0" tIns="0" rIns="0" bIns="0" rtlCol="0" anchor="t"/>
          <a:lstStyle/>
          <a:p>
            <a:pPr marL="0" indent="0" algn="l">
              <a:lnSpc>
                <a:spcPct val="104000"/>
              </a:lnSpc>
              <a:buNone/>
            </a:pPr>
            <a:r>
              <a:rPr lang="en-US" sz="800" dirty="0">
                <a:solidFill>
                  <a:srgbClr val="3B3535"/>
                </a:solidFill>
                <a:latin typeface="Alexandria SemiBold" pitchFamily="34" charset="0"/>
                <a:ea typeface="Alexandria SemiBold" pitchFamily="34" charset="-122"/>
                <a:cs typeface="Alexandria SemiBold" pitchFamily="34" charset="-120"/>
              </a:rPr>
              <a:t>Docker CLI</a:t>
            </a:r>
            <a:endParaRPr lang="en-US" sz="800" dirty="0"/>
          </a:p>
        </p:txBody>
      </p:sp>
      <p:sp>
        <p:nvSpPr>
          <p:cNvPr id="18" name="Text 15"/>
          <p:cNvSpPr/>
          <p:nvPr/>
        </p:nvSpPr>
        <p:spPr>
          <a:xfrm>
            <a:off x="1737271" y="4371975"/>
            <a:ext cx="1744489" cy="102468"/>
          </a:xfrm>
          <a:prstGeom prst="rect">
            <a:avLst/>
          </a:prstGeom>
          <a:noFill/>
          <a:ln/>
        </p:spPr>
        <p:txBody>
          <a:bodyPr wrap="none" lIns="0" tIns="0" rIns="0" bIns="0" rtlCol="0" anchor="t"/>
          <a:lstStyle/>
          <a:p>
            <a:pPr marL="0" indent="0" algn="l">
              <a:lnSpc>
                <a:spcPct val="106000"/>
              </a:lnSpc>
              <a:buNone/>
            </a:pPr>
            <a:r>
              <a:rPr lang="en-US" sz="600" dirty="0">
                <a:solidFill>
                  <a:srgbClr val="3B3535"/>
                </a:solidFill>
                <a:latin typeface="Sora Light" pitchFamily="34" charset="0"/>
                <a:ea typeface="Sora Light" pitchFamily="34" charset="-122"/>
                <a:cs typeface="Sora Light" pitchFamily="34" charset="-120"/>
              </a:rPr>
              <a:t>User-facing commands and quick tasks.</a:t>
            </a:r>
            <a:endParaRPr lang="en-US" sz="600" dirty="0"/>
          </a:p>
        </p:txBody>
      </p:sp>
      <p:sp>
        <p:nvSpPr>
          <p:cNvPr id="19" name="Shape 16"/>
          <p:cNvSpPr/>
          <p:nvPr/>
        </p:nvSpPr>
        <p:spPr>
          <a:xfrm>
            <a:off x="3614589" y="4126037"/>
            <a:ext cx="1914748" cy="638473"/>
          </a:xfrm>
          <a:prstGeom prst="roundRect">
            <a:avLst>
              <a:gd name="adj" fmla="val 5289"/>
            </a:avLst>
          </a:prstGeom>
          <a:solidFill>
            <a:srgbClr val="D5DCF6"/>
          </a:solidFill>
          <a:ln w="4763">
            <a:solidFill>
              <a:srgbClr val="BBC2DC"/>
            </a:solidFill>
            <a:prstDash val="solid"/>
          </a:ln>
        </p:spPr>
        <p:txBody>
          <a:bodyPr/>
          <a:lstStyle/>
          <a:p>
            <a:endParaRPr lang="en-IN"/>
          </a:p>
        </p:txBody>
      </p:sp>
      <p:sp>
        <p:nvSpPr>
          <p:cNvPr id="20" name="Text 17"/>
          <p:cNvSpPr/>
          <p:nvPr/>
        </p:nvSpPr>
        <p:spPr>
          <a:xfrm>
            <a:off x="3699718" y="4211166"/>
            <a:ext cx="1057870" cy="132234"/>
          </a:xfrm>
          <a:prstGeom prst="rect">
            <a:avLst/>
          </a:prstGeom>
          <a:noFill/>
          <a:ln/>
        </p:spPr>
        <p:txBody>
          <a:bodyPr wrap="none" lIns="0" tIns="0" rIns="0" bIns="0" rtlCol="0" anchor="t"/>
          <a:lstStyle/>
          <a:p>
            <a:pPr marL="0" indent="0" algn="l">
              <a:lnSpc>
                <a:spcPct val="104000"/>
              </a:lnSpc>
              <a:buNone/>
            </a:pPr>
            <a:r>
              <a:rPr lang="en-US" sz="800" dirty="0">
                <a:solidFill>
                  <a:srgbClr val="3B3535"/>
                </a:solidFill>
                <a:latin typeface="Alexandria SemiBold" pitchFamily="34" charset="0"/>
                <a:ea typeface="Alexandria SemiBold" pitchFamily="34" charset="-122"/>
                <a:cs typeface="Alexandria SemiBold" pitchFamily="34" charset="-120"/>
              </a:rPr>
              <a:t>Docker SDK</a:t>
            </a:r>
            <a:endParaRPr lang="en-US" sz="800" dirty="0"/>
          </a:p>
        </p:txBody>
      </p:sp>
      <p:sp>
        <p:nvSpPr>
          <p:cNvPr id="21" name="Text 18"/>
          <p:cNvSpPr/>
          <p:nvPr/>
        </p:nvSpPr>
        <p:spPr>
          <a:xfrm>
            <a:off x="3699718" y="4371975"/>
            <a:ext cx="1744489" cy="307404"/>
          </a:xfrm>
          <a:prstGeom prst="rect">
            <a:avLst/>
          </a:prstGeom>
          <a:noFill/>
          <a:ln/>
        </p:spPr>
        <p:txBody>
          <a:bodyPr wrap="square" lIns="0" tIns="0" rIns="0" bIns="0" rtlCol="0" anchor="t">
            <a:normAutofit/>
          </a:bodyPr>
          <a:lstStyle/>
          <a:p>
            <a:pPr marL="0" indent="0" algn="l">
              <a:lnSpc>
                <a:spcPct val="106000"/>
              </a:lnSpc>
              <a:buNone/>
            </a:pPr>
            <a:r>
              <a:rPr lang="en-US" sz="600" dirty="0">
                <a:solidFill>
                  <a:srgbClr val="3B3535"/>
                </a:solidFill>
                <a:latin typeface="Sora Light" pitchFamily="34" charset="0"/>
                <a:ea typeface="Sora Light" pitchFamily="34" charset="-122"/>
                <a:cs typeface="Sora Light" pitchFamily="34" charset="-120"/>
              </a:rPr>
              <a:t>Programmatic client libraries (Python) that expose container operations as structured APIs.</a:t>
            </a:r>
            <a:endParaRPr lang="en-US" sz="600" dirty="0"/>
          </a:p>
        </p:txBody>
      </p:sp>
      <p:sp>
        <p:nvSpPr>
          <p:cNvPr id="22" name="Shape 19"/>
          <p:cNvSpPr/>
          <p:nvPr/>
        </p:nvSpPr>
        <p:spPr>
          <a:xfrm>
            <a:off x="5577036" y="4126037"/>
            <a:ext cx="1914823" cy="638473"/>
          </a:xfrm>
          <a:prstGeom prst="roundRect">
            <a:avLst>
              <a:gd name="adj" fmla="val 5289"/>
            </a:avLst>
          </a:prstGeom>
          <a:solidFill>
            <a:srgbClr val="D5DCF6"/>
          </a:solidFill>
          <a:ln w="4763">
            <a:solidFill>
              <a:srgbClr val="BBC2DC"/>
            </a:solidFill>
            <a:prstDash val="solid"/>
          </a:ln>
        </p:spPr>
        <p:txBody>
          <a:bodyPr/>
          <a:lstStyle/>
          <a:p>
            <a:endParaRPr lang="en-IN"/>
          </a:p>
        </p:txBody>
      </p:sp>
      <p:sp>
        <p:nvSpPr>
          <p:cNvPr id="23" name="Text 20"/>
          <p:cNvSpPr/>
          <p:nvPr/>
        </p:nvSpPr>
        <p:spPr>
          <a:xfrm>
            <a:off x="5662166" y="4211166"/>
            <a:ext cx="1057870" cy="132234"/>
          </a:xfrm>
          <a:prstGeom prst="rect">
            <a:avLst/>
          </a:prstGeom>
          <a:noFill/>
          <a:ln/>
        </p:spPr>
        <p:txBody>
          <a:bodyPr wrap="none" lIns="0" tIns="0" rIns="0" bIns="0" rtlCol="0" anchor="t"/>
          <a:lstStyle/>
          <a:p>
            <a:pPr marL="0" indent="0" algn="l">
              <a:lnSpc>
                <a:spcPct val="104000"/>
              </a:lnSpc>
              <a:buNone/>
            </a:pPr>
            <a:r>
              <a:rPr lang="en-US" sz="800" dirty="0">
                <a:solidFill>
                  <a:srgbClr val="3B3535"/>
                </a:solidFill>
                <a:latin typeface="Alexandria SemiBold" pitchFamily="34" charset="0"/>
                <a:ea typeface="Alexandria SemiBold" pitchFamily="34" charset="-122"/>
                <a:cs typeface="Alexandria SemiBold" pitchFamily="34" charset="-120"/>
              </a:rPr>
              <a:t>Docker Daemon</a:t>
            </a:r>
            <a:endParaRPr lang="en-US" sz="800" dirty="0"/>
          </a:p>
        </p:txBody>
      </p:sp>
      <p:sp>
        <p:nvSpPr>
          <p:cNvPr id="24" name="Text 21"/>
          <p:cNvSpPr/>
          <p:nvPr/>
        </p:nvSpPr>
        <p:spPr>
          <a:xfrm>
            <a:off x="5662166" y="4371975"/>
            <a:ext cx="1744563" cy="204936"/>
          </a:xfrm>
          <a:prstGeom prst="rect">
            <a:avLst/>
          </a:prstGeom>
          <a:noFill/>
          <a:ln/>
        </p:spPr>
        <p:txBody>
          <a:bodyPr wrap="square" lIns="0" tIns="0" rIns="0" bIns="0" rtlCol="0" anchor="t">
            <a:normAutofit/>
          </a:bodyPr>
          <a:lstStyle/>
          <a:p>
            <a:pPr marL="0" indent="0" algn="l">
              <a:lnSpc>
                <a:spcPct val="106000"/>
              </a:lnSpc>
              <a:buNone/>
            </a:pPr>
            <a:r>
              <a:rPr lang="en-US" sz="600" dirty="0">
                <a:solidFill>
                  <a:srgbClr val="3B3535"/>
                </a:solidFill>
                <a:latin typeface="Sora Light" pitchFamily="34" charset="0"/>
                <a:ea typeface="Sora Light" pitchFamily="34" charset="-122"/>
                <a:cs typeface="Sora Light" pitchFamily="34" charset="-120"/>
              </a:rPr>
              <a:t>Service that manages images, containers and networking.</a:t>
            </a:r>
            <a:endParaRPr lang="en-US" sz="600" dirty="0"/>
          </a:p>
        </p:txBody>
      </p:sp>
      <p:pic>
        <p:nvPicPr>
          <p:cNvPr id="25" name="Picture 24">
            <a:extLst>
              <a:ext uri="{FF2B5EF4-FFF2-40B4-BE49-F238E27FC236}">
                <a16:creationId xmlns:a16="http://schemas.microsoft.com/office/drawing/2014/main" id="{FD6AC6F6-AF9A-9618-35F7-6D0E5B44E353}"/>
              </a:ext>
            </a:extLst>
          </p:cNvPr>
          <p:cNvPicPr>
            <a:picLocks noChangeAspect="1"/>
          </p:cNvPicPr>
          <p:nvPr/>
        </p:nvPicPr>
        <p:blipFill>
          <a:blip r:embed="rId4"/>
          <a:stretch>
            <a:fillRect/>
          </a:stretch>
        </p:blipFill>
        <p:spPr>
          <a:xfrm>
            <a:off x="7539558" y="4764510"/>
            <a:ext cx="1607225" cy="3437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652141" y="400273"/>
            <a:ext cx="3767584" cy="264393"/>
          </a:xfrm>
          <a:prstGeom prst="rect">
            <a:avLst/>
          </a:prstGeom>
          <a:noFill/>
          <a:ln/>
        </p:spPr>
        <p:txBody>
          <a:bodyPr wrap="none" lIns="0" tIns="0" rIns="0" bIns="0" rtlCol="0" anchor="t"/>
          <a:lstStyle/>
          <a:p>
            <a:pPr marL="0" indent="0" algn="l">
              <a:lnSpc>
                <a:spcPct val="104000"/>
              </a:lnSpc>
              <a:buNone/>
            </a:pPr>
            <a:r>
              <a:rPr lang="en-US" sz="1650" dirty="0">
                <a:solidFill>
                  <a:srgbClr val="1F1E1E"/>
                </a:solidFill>
                <a:latin typeface="Alexandria SemiBold" pitchFamily="34" charset="0"/>
                <a:ea typeface="Alexandria SemiBold" pitchFamily="34" charset="-122"/>
                <a:cs typeface="Alexandria SemiBold" pitchFamily="34" charset="-120"/>
              </a:rPr>
              <a:t>Complete System Architecture</a:t>
            </a:r>
            <a:endParaRPr lang="en-US" sz="1650" dirty="0"/>
          </a:p>
        </p:txBody>
      </p:sp>
      <p:pic>
        <p:nvPicPr>
          <p:cNvPr id="3" name="Image 0" descr="preencoded.png"/>
          <p:cNvPicPr>
            <a:picLocks noChangeAspect="1"/>
          </p:cNvPicPr>
          <p:nvPr/>
        </p:nvPicPr>
        <p:blipFill>
          <a:blip r:embed="rId3"/>
          <a:stretch>
            <a:fillRect/>
          </a:stretch>
        </p:blipFill>
        <p:spPr>
          <a:xfrm>
            <a:off x="1676177" y="760140"/>
            <a:ext cx="5791572" cy="2497485"/>
          </a:xfrm>
          <a:prstGeom prst="rect">
            <a:avLst/>
          </a:prstGeom>
        </p:spPr>
      </p:pic>
      <p:sp>
        <p:nvSpPr>
          <p:cNvPr id="4" name="Text 1"/>
          <p:cNvSpPr/>
          <p:nvPr/>
        </p:nvSpPr>
        <p:spPr>
          <a:xfrm>
            <a:off x="2065864" y="2779628"/>
            <a:ext cx="1382998" cy="172909"/>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Alexandria SemiBold" pitchFamily="34" charset="0"/>
                <a:ea typeface="Alexandria SemiBold" pitchFamily="34" charset="-122"/>
                <a:cs typeface="Alexandria SemiBold" pitchFamily="34" charset="-120"/>
              </a:rPr>
              <a:t>Docker SDK</a:t>
            </a:r>
            <a:endParaRPr lang="en-US" sz="1050" dirty="0"/>
          </a:p>
        </p:txBody>
      </p:sp>
      <p:sp>
        <p:nvSpPr>
          <p:cNvPr id="5" name="Text 2"/>
          <p:cNvSpPr/>
          <p:nvPr/>
        </p:nvSpPr>
        <p:spPr>
          <a:xfrm>
            <a:off x="2065864" y="2201501"/>
            <a:ext cx="1382998" cy="172909"/>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Alexandria SemiBold" pitchFamily="34" charset="0"/>
                <a:ea typeface="Alexandria SemiBold" pitchFamily="34" charset="-122"/>
                <a:cs typeface="Alexandria SemiBold" pitchFamily="34" charset="-120"/>
              </a:rPr>
              <a:t>Bridge Layer</a:t>
            </a:r>
            <a:endParaRPr lang="en-US" sz="1050" dirty="0"/>
          </a:p>
        </p:txBody>
      </p:sp>
      <p:sp>
        <p:nvSpPr>
          <p:cNvPr id="6" name="Text 3"/>
          <p:cNvSpPr/>
          <p:nvPr/>
        </p:nvSpPr>
        <p:spPr>
          <a:xfrm>
            <a:off x="2065864" y="1629213"/>
            <a:ext cx="1382998" cy="172909"/>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Alexandria SemiBold" pitchFamily="34" charset="0"/>
                <a:ea typeface="Alexandria SemiBold" pitchFamily="34" charset="-122"/>
                <a:cs typeface="Alexandria SemiBold" pitchFamily="34" charset="-120"/>
              </a:rPr>
              <a:t>Agent Executor</a:t>
            </a:r>
            <a:endParaRPr lang="en-US" sz="1050" dirty="0"/>
          </a:p>
        </p:txBody>
      </p:sp>
      <p:sp>
        <p:nvSpPr>
          <p:cNvPr id="7" name="Text 4"/>
          <p:cNvSpPr/>
          <p:nvPr/>
        </p:nvSpPr>
        <p:spPr>
          <a:xfrm>
            <a:off x="2065864" y="1051086"/>
            <a:ext cx="1382998" cy="172909"/>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Alexandria SemiBold" pitchFamily="34" charset="0"/>
                <a:ea typeface="Alexandria SemiBold" pitchFamily="34" charset="-122"/>
                <a:cs typeface="Alexandria SemiBold" pitchFamily="34" charset="-120"/>
              </a:rPr>
              <a:t>Dashboard</a:t>
            </a:r>
            <a:endParaRPr lang="en-US" sz="1050" dirty="0"/>
          </a:p>
        </p:txBody>
      </p:sp>
      <p:sp>
        <p:nvSpPr>
          <p:cNvPr id="8" name="Text 5"/>
          <p:cNvSpPr/>
          <p:nvPr/>
        </p:nvSpPr>
        <p:spPr>
          <a:xfrm>
            <a:off x="1652141" y="3311277"/>
            <a:ext cx="6296918" cy="102468"/>
          </a:xfrm>
          <a:prstGeom prst="rect">
            <a:avLst/>
          </a:prstGeom>
          <a:noFill/>
          <a:ln/>
        </p:spPr>
        <p:txBody>
          <a:bodyPr wrap="none" lIns="0" tIns="0" rIns="0" bIns="0" rtlCol="0" anchor="t"/>
          <a:lstStyle/>
          <a:p>
            <a:pPr marL="0" indent="0" algn="l">
              <a:lnSpc>
                <a:spcPct val="106000"/>
              </a:lnSpc>
              <a:buNone/>
            </a:pPr>
            <a:r>
              <a:rPr lang="en-US" sz="600" dirty="0">
                <a:solidFill>
                  <a:srgbClr val="3B3535"/>
                </a:solidFill>
                <a:latin typeface="Sora Light" pitchFamily="34" charset="0"/>
                <a:ea typeface="Sora Light" pitchFamily="34" charset="-122"/>
                <a:cs typeface="Sora Light" pitchFamily="34" charset="-120"/>
              </a:rPr>
              <a:t>Component roles (brief):</a:t>
            </a:r>
            <a:endParaRPr lang="en-US" sz="600" dirty="0"/>
          </a:p>
        </p:txBody>
      </p:sp>
      <p:sp>
        <p:nvSpPr>
          <p:cNvPr id="9" name="Shape 6"/>
          <p:cNvSpPr/>
          <p:nvPr/>
        </p:nvSpPr>
        <p:spPr>
          <a:xfrm>
            <a:off x="1652141" y="3467398"/>
            <a:ext cx="1914748" cy="536004"/>
          </a:xfrm>
          <a:prstGeom prst="roundRect">
            <a:avLst>
              <a:gd name="adj" fmla="val 6300"/>
            </a:avLst>
          </a:prstGeom>
          <a:solidFill>
            <a:srgbClr val="D5DCF6"/>
          </a:solidFill>
          <a:ln w="4763">
            <a:solidFill>
              <a:srgbClr val="BBC2DC"/>
            </a:solidFill>
            <a:prstDash val="solid"/>
          </a:ln>
        </p:spPr>
        <p:txBody>
          <a:bodyPr/>
          <a:lstStyle/>
          <a:p>
            <a:endParaRPr lang="en-IN"/>
          </a:p>
        </p:txBody>
      </p:sp>
      <p:sp>
        <p:nvSpPr>
          <p:cNvPr id="10" name="Text 7"/>
          <p:cNvSpPr/>
          <p:nvPr/>
        </p:nvSpPr>
        <p:spPr>
          <a:xfrm>
            <a:off x="1737271" y="3552527"/>
            <a:ext cx="1118295" cy="132234"/>
          </a:xfrm>
          <a:prstGeom prst="rect">
            <a:avLst/>
          </a:prstGeom>
          <a:noFill/>
          <a:ln/>
        </p:spPr>
        <p:txBody>
          <a:bodyPr wrap="none" lIns="0" tIns="0" rIns="0" bIns="0" rtlCol="0" anchor="t"/>
          <a:lstStyle/>
          <a:p>
            <a:pPr marL="0" indent="0" algn="l">
              <a:lnSpc>
                <a:spcPct val="104000"/>
              </a:lnSpc>
              <a:buNone/>
            </a:pPr>
            <a:r>
              <a:rPr lang="en-US" sz="800" dirty="0">
                <a:solidFill>
                  <a:srgbClr val="3B3535"/>
                </a:solidFill>
                <a:latin typeface="Alexandria SemiBold" pitchFamily="34" charset="0"/>
                <a:ea typeface="Alexandria SemiBold" pitchFamily="34" charset="-122"/>
                <a:cs typeface="Alexandria SemiBold" pitchFamily="34" charset="-120"/>
              </a:rPr>
              <a:t>Streamlit Dashboard</a:t>
            </a:r>
            <a:endParaRPr lang="en-US" sz="800" dirty="0"/>
          </a:p>
        </p:txBody>
      </p:sp>
      <p:sp>
        <p:nvSpPr>
          <p:cNvPr id="11" name="Text 8"/>
          <p:cNvSpPr/>
          <p:nvPr/>
        </p:nvSpPr>
        <p:spPr>
          <a:xfrm>
            <a:off x="1737271" y="3713336"/>
            <a:ext cx="1744489" cy="204936"/>
          </a:xfrm>
          <a:prstGeom prst="rect">
            <a:avLst/>
          </a:prstGeom>
          <a:noFill/>
          <a:ln/>
        </p:spPr>
        <p:txBody>
          <a:bodyPr wrap="square" lIns="0" tIns="0" rIns="0" bIns="0" rtlCol="0" anchor="t">
            <a:normAutofit/>
          </a:bodyPr>
          <a:lstStyle/>
          <a:p>
            <a:pPr marL="0" indent="0" algn="l">
              <a:lnSpc>
                <a:spcPct val="106000"/>
              </a:lnSpc>
              <a:buNone/>
            </a:pPr>
            <a:r>
              <a:rPr lang="en-US" sz="600" dirty="0">
                <a:solidFill>
                  <a:srgbClr val="3B3535"/>
                </a:solidFill>
                <a:latin typeface="Sora Light" pitchFamily="34" charset="0"/>
                <a:ea typeface="Sora Light" pitchFamily="34" charset="-122"/>
                <a:cs typeface="Sora Light" pitchFamily="34" charset="-120"/>
              </a:rPr>
              <a:t>User interface for queries, interactive logs and suggested fixes.</a:t>
            </a:r>
            <a:endParaRPr lang="en-US" sz="600" dirty="0"/>
          </a:p>
        </p:txBody>
      </p:sp>
      <p:sp>
        <p:nvSpPr>
          <p:cNvPr id="12" name="Shape 9"/>
          <p:cNvSpPr/>
          <p:nvPr/>
        </p:nvSpPr>
        <p:spPr>
          <a:xfrm>
            <a:off x="3614589" y="3467398"/>
            <a:ext cx="1914748" cy="536004"/>
          </a:xfrm>
          <a:prstGeom prst="roundRect">
            <a:avLst>
              <a:gd name="adj" fmla="val 6300"/>
            </a:avLst>
          </a:prstGeom>
          <a:solidFill>
            <a:srgbClr val="D5DCF6"/>
          </a:solidFill>
          <a:ln w="4763">
            <a:solidFill>
              <a:srgbClr val="BBC2DC"/>
            </a:solidFill>
            <a:prstDash val="solid"/>
          </a:ln>
        </p:spPr>
        <p:txBody>
          <a:bodyPr/>
          <a:lstStyle/>
          <a:p>
            <a:endParaRPr lang="en-IN"/>
          </a:p>
        </p:txBody>
      </p:sp>
      <p:sp>
        <p:nvSpPr>
          <p:cNvPr id="13" name="Text 10"/>
          <p:cNvSpPr/>
          <p:nvPr/>
        </p:nvSpPr>
        <p:spPr>
          <a:xfrm>
            <a:off x="3699718" y="3552527"/>
            <a:ext cx="1057870" cy="132234"/>
          </a:xfrm>
          <a:prstGeom prst="rect">
            <a:avLst/>
          </a:prstGeom>
          <a:noFill/>
          <a:ln/>
        </p:spPr>
        <p:txBody>
          <a:bodyPr wrap="none" lIns="0" tIns="0" rIns="0" bIns="0" rtlCol="0" anchor="t"/>
          <a:lstStyle/>
          <a:p>
            <a:pPr marL="0" indent="0" algn="l">
              <a:lnSpc>
                <a:spcPct val="104000"/>
              </a:lnSpc>
              <a:buNone/>
            </a:pPr>
            <a:r>
              <a:rPr lang="en-US" sz="800" dirty="0">
                <a:solidFill>
                  <a:srgbClr val="3B3535"/>
                </a:solidFill>
                <a:latin typeface="Alexandria SemiBold" pitchFamily="34" charset="0"/>
                <a:ea typeface="Alexandria SemiBold" pitchFamily="34" charset="-122"/>
                <a:cs typeface="Alexandria SemiBold" pitchFamily="34" charset="-120"/>
              </a:rPr>
              <a:t>Agent Executor</a:t>
            </a:r>
            <a:endParaRPr lang="en-US" sz="800" dirty="0"/>
          </a:p>
        </p:txBody>
      </p:sp>
      <p:sp>
        <p:nvSpPr>
          <p:cNvPr id="14" name="Text 11"/>
          <p:cNvSpPr/>
          <p:nvPr/>
        </p:nvSpPr>
        <p:spPr>
          <a:xfrm>
            <a:off x="3699718" y="3713336"/>
            <a:ext cx="1744489" cy="204936"/>
          </a:xfrm>
          <a:prstGeom prst="rect">
            <a:avLst/>
          </a:prstGeom>
          <a:noFill/>
          <a:ln/>
        </p:spPr>
        <p:txBody>
          <a:bodyPr wrap="square" lIns="0" tIns="0" rIns="0" bIns="0" rtlCol="0" anchor="t">
            <a:normAutofit/>
          </a:bodyPr>
          <a:lstStyle/>
          <a:p>
            <a:pPr marL="0" indent="0" algn="l">
              <a:lnSpc>
                <a:spcPct val="106000"/>
              </a:lnSpc>
              <a:buNone/>
            </a:pPr>
            <a:r>
              <a:rPr lang="en-US" sz="600" dirty="0">
                <a:solidFill>
                  <a:srgbClr val="3B3535"/>
                </a:solidFill>
                <a:latin typeface="Sora Light" pitchFamily="34" charset="0"/>
                <a:ea typeface="Sora Light" pitchFamily="34" charset="-122"/>
                <a:cs typeface="Sora Light" pitchFamily="34" charset="-120"/>
              </a:rPr>
              <a:t>Manages LLM prompts, tool calls, and multi-step reasoning loops.</a:t>
            </a:r>
            <a:endParaRPr lang="en-US" sz="600" dirty="0"/>
          </a:p>
        </p:txBody>
      </p:sp>
      <p:sp>
        <p:nvSpPr>
          <p:cNvPr id="15" name="Shape 12"/>
          <p:cNvSpPr/>
          <p:nvPr/>
        </p:nvSpPr>
        <p:spPr>
          <a:xfrm>
            <a:off x="5577036" y="3467398"/>
            <a:ext cx="1914823" cy="536004"/>
          </a:xfrm>
          <a:prstGeom prst="roundRect">
            <a:avLst>
              <a:gd name="adj" fmla="val 6300"/>
            </a:avLst>
          </a:prstGeom>
          <a:solidFill>
            <a:srgbClr val="D5DCF6"/>
          </a:solidFill>
          <a:ln w="4763">
            <a:solidFill>
              <a:srgbClr val="BBC2DC"/>
            </a:solidFill>
            <a:prstDash val="solid"/>
          </a:ln>
        </p:spPr>
        <p:txBody>
          <a:bodyPr/>
          <a:lstStyle/>
          <a:p>
            <a:endParaRPr lang="en-IN"/>
          </a:p>
        </p:txBody>
      </p:sp>
      <p:sp>
        <p:nvSpPr>
          <p:cNvPr id="16" name="Text 13"/>
          <p:cNvSpPr/>
          <p:nvPr/>
        </p:nvSpPr>
        <p:spPr>
          <a:xfrm>
            <a:off x="5662166" y="3552527"/>
            <a:ext cx="1057870" cy="132234"/>
          </a:xfrm>
          <a:prstGeom prst="rect">
            <a:avLst/>
          </a:prstGeom>
          <a:noFill/>
          <a:ln/>
        </p:spPr>
        <p:txBody>
          <a:bodyPr wrap="none" lIns="0" tIns="0" rIns="0" bIns="0" rtlCol="0" anchor="t"/>
          <a:lstStyle/>
          <a:p>
            <a:pPr marL="0" indent="0" algn="l">
              <a:lnSpc>
                <a:spcPct val="104000"/>
              </a:lnSpc>
              <a:buNone/>
            </a:pPr>
            <a:r>
              <a:rPr lang="en-US" sz="800" dirty="0">
                <a:solidFill>
                  <a:srgbClr val="3B3535"/>
                </a:solidFill>
                <a:latin typeface="Alexandria SemiBold" pitchFamily="34" charset="0"/>
                <a:ea typeface="Alexandria SemiBold" pitchFamily="34" charset="-122"/>
                <a:cs typeface="Alexandria SemiBold" pitchFamily="34" charset="-120"/>
              </a:rPr>
              <a:t>Bridge Layer</a:t>
            </a:r>
            <a:endParaRPr lang="en-US" sz="800" dirty="0"/>
          </a:p>
        </p:txBody>
      </p:sp>
      <p:sp>
        <p:nvSpPr>
          <p:cNvPr id="17" name="Text 14"/>
          <p:cNvSpPr/>
          <p:nvPr/>
        </p:nvSpPr>
        <p:spPr>
          <a:xfrm>
            <a:off x="5662166" y="3713336"/>
            <a:ext cx="1744563" cy="204936"/>
          </a:xfrm>
          <a:prstGeom prst="rect">
            <a:avLst/>
          </a:prstGeom>
          <a:noFill/>
          <a:ln/>
        </p:spPr>
        <p:txBody>
          <a:bodyPr wrap="square" lIns="0" tIns="0" rIns="0" bIns="0" rtlCol="0" anchor="t">
            <a:normAutofit/>
          </a:bodyPr>
          <a:lstStyle/>
          <a:p>
            <a:pPr marL="0" indent="0" algn="l">
              <a:lnSpc>
                <a:spcPct val="106000"/>
              </a:lnSpc>
              <a:buNone/>
            </a:pPr>
            <a:r>
              <a:rPr lang="en-US" sz="600" dirty="0">
                <a:solidFill>
                  <a:srgbClr val="3B3535"/>
                </a:solidFill>
                <a:latin typeface="Sora Light" pitchFamily="34" charset="0"/>
                <a:ea typeface="Sora Light" pitchFamily="34" charset="-122"/>
                <a:cs typeface="Sora Light" pitchFamily="34" charset="-120"/>
              </a:rPr>
              <a:t>Validates intent JSON, enforces permissions, rate-limits SDK calls.</a:t>
            </a:r>
            <a:endParaRPr lang="en-US" sz="600" dirty="0"/>
          </a:p>
        </p:txBody>
      </p:sp>
      <p:sp>
        <p:nvSpPr>
          <p:cNvPr id="18" name="Shape 15"/>
          <p:cNvSpPr/>
          <p:nvPr/>
        </p:nvSpPr>
        <p:spPr>
          <a:xfrm>
            <a:off x="1652141" y="4051102"/>
            <a:ext cx="2895972" cy="536004"/>
          </a:xfrm>
          <a:prstGeom prst="roundRect">
            <a:avLst>
              <a:gd name="adj" fmla="val 6300"/>
            </a:avLst>
          </a:prstGeom>
          <a:solidFill>
            <a:srgbClr val="D5DCF6"/>
          </a:solidFill>
          <a:ln w="4763">
            <a:solidFill>
              <a:srgbClr val="BBC2DC"/>
            </a:solidFill>
            <a:prstDash val="solid"/>
          </a:ln>
        </p:spPr>
        <p:txBody>
          <a:bodyPr/>
          <a:lstStyle/>
          <a:p>
            <a:endParaRPr lang="en-IN"/>
          </a:p>
        </p:txBody>
      </p:sp>
      <p:sp>
        <p:nvSpPr>
          <p:cNvPr id="19" name="Text 16"/>
          <p:cNvSpPr/>
          <p:nvPr/>
        </p:nvSpPr>
        <p:spPr>
          <a:xfrm>
            <a:off x="1737271" y="4136231"/>
            <a:ext cx="1216596" cy="132234"/>
          </a:xfrm>
          <a:prstGeom prst="rect">
            <a:avLst/>
          </a:prstGeom>
          <a:noFill/>
          <a:ln/>
        </p:spPr>
        <p:txBody>
          <a:bodyPr wrap="none" lIns="0" tIns="0" rIns="0" bIns="0" rtlCol="0" anchor="t"/>
          <a:lstStyle/>
          <a:p>
            <a:pPr marL="0" indent="0" algn="l">
              <a:lnSpc>
                <a:spcPct val="104000"/>
              </a:lnSpc>
              <a:buNone/>
            </a:pPr>
            <a:r>
              <a:rPr lang="en-US" sz="800" dirty="0">
                <a:solidFill>
                  <a:srgbClr val="3B3535"/>
                </a:solidFill>
                <a:latin typeface="Alexandria SemiBold" pitchFamily="34" charset="0"/>
                <a:ea typeface="Alexandria SemiBold" pitchFamily="34" charset="-122"/>
                <a:cs typeface="Alexandria SemiBold" pitchFamily="34" charset="-120"/>
              </a:rPr>
              <a:t>Docker SDK &amp; Daemon</a:t>
            </a:r>
            <a:endParaRPr lang="en-US" sz="800" dirty="0"/>
          </a:p>
        </p:txBody>
      </p:sp>
      <p:sp>
        <p:nvSpPr>
          <p:cNvPr id="20" name="Text 17"/>
          <p:cNvSpPr/>
          <p:nvPr/>
        </p:nvSpPr>
        <p:spPr>
          <a:xfrm>
            <a:off x="1737271" y="4297040"/>
            <a:ext cx="2725713" cy="102468"/>
          </a:xfrm>
          <a:prstGeom prst="rect">
            <a:avLst/>
          </a:prstGeom>
          <a:noFill/>
          <a:ln/>
        </p:spPr>
        <p:txBody>
          <a:bodyPr wrap="none" lIns="0" tIns="0" rIns="0" bIns="0" rtlCol="0" anchor="t"/>
          <a:lstStyle/>
          <a:p>
            <a:pPr marL="0" indent="0" algn="l">
              <a:lnSpc>
                <a:spcPct val="106000"/>
              </a:lnSpc>
              <a:buNone/>
            </a:pPr>
            <a:r>
              <a:rPr lang="en-US" sz="600" dirty="0">
                <a:solidFill>
                  <a:srgbClr val="3B3535"/>
                </a:solidFill>
                <a:latin typeface="Sora Light" pitchFamily="34" charset="0"/>
                <a:ea typeface="Sora Light" pitchFamily="34" charset="-122"/>
                <a:cs typeface="Sora Light" pitchFamily="34" charset="-120"/>
              </a:rPr>
              <a:t>Fetches container metadata, logs and runtime metrics.</a:t>
            </a:r>
            <a:endParaRPr lang="en-US" sz="600" dirty="0"/>
          </a:p>
        </p:txBody>
      </p:sp>
      <p:sp>
        <p:nvSpPr>
          <p:cNvPr id="21" name="Shape 18"/>
          <p:cNvSpPr/>
          <p:nvPr/>
        </p:nvSpPr>
        <p:spPr>
          <a:xfrm>
            <a:off x="4595813" y="4051102"/>
            <a:ext cx="2896046" cy="536004"/>
          </a:xfrm>
          <a:prstGeom prst="roundRect">
            <a:avLst>
              <a:gd name="adj" fmla="val 6300"/>
            </a:avLst>
          </a:prstGeom>
          <a:solidFill>
            <a:srgbClr val="D5DCF6"/>
          </a:solidFill>
          <a:ln w="4763">
            <a:solidFill>
              <a:srgbClr val="BBC2DC"/>
            </a:solidFill>
            <a:prstDash val="solid"/>
          </a:ln>
        </p:spPr>
        <p:txBody>
          <a:bodyPr/>
          <a:lstStyle/>
          <a:p>
            <a:endParaRPr lang="en-IN"/>
          </a:p>
        </p:txBody>
      </p:sp>
      <p:sp>
        <p:nvSpPr>
          <p:cNvPr id="22" name="Text 19"/>
          <p:cNvSpPr/>
          <p:nvPr/>
        </p:nvSpPr>
        <p:spPr>
          <a:xfrm>
            <a:off x="4680942" y="4136231"/>
            <a:ext cx="1057870" cy="132234"/>
          </a:xfrm>
          <a:prstGeom prst="rect">
            <a:avLst/>
          </a:prstGeom>
          <a:noFill/>
          <a:ln/>
        </p:spPr>
        <p:txBody>
          <a:bodyPr wrap="none" lIns="0" tIns="0" rIns="0" bIns="0" rtlCol="0" anchor="t"/>
          <a:lstStyle/>
          <a:p>
            <a:pPr marL="0" indent="0" algn="l">
              <a:lnSpc>
                <a:spcPct val="104000"/>
              </a:lnSpc>
              <a:buNone/>
            </a:pPr>
            <a:r>
              <a:rPr lang="en-US" sz="800" dirty="0">
                <a:solidFill>
                  <a:srgbClr val="3B3535"/>
                </a:solidFill>
                <a:latin typeface="Alexandria SemiBold" pitchFamily="34" charset="0"/>
                <a:ea typeface="Alexandria SemiBold" pitchFamily="34" charset="-122"/>
                <a:cs typeface="Alexandria SemiBold" pitchFamily="34" charset="-120"/>
              </a:rPr>
              <a:t>AI Summary</a:t>
            </a:r>
            <a:endParaRPr lang="en-US" sz="800" dirty="0"/>
          </a:p>
        </p:txBody>
      </p:sp>
      <p:sp>
        <p:nvSpPr>
          <p:cNvPr id="23" name="Text 20"/>
          <p:cNvSpPr/>
          <p:nvPr/>
        </p:nvSpPr>
        <p:spPr>
          <a:xfrm>
            <a:off x="4680942" y="4297040"/>
            <a:ext cx="2725787" cy="204936"/>
          </a:xfrm>
          <a:prstGeom prst="rect">
            <a:avLst/>
          </a:prstGeom>
          <a:noFill/>
          <a:ln/>
        </p:spPr>
        <p:txBody>
          <a:bodyPr wrap="square" lIns="0" tIns="0" rIns="0" bIns="0" rtlCol="0" anchor="t">
            <a:normAutofit/>
          </a:bodyPr>
          <a:lstStyle/>
          <a:p>
            <a:pPr marL="0" indent="0" algn="l">
              <a:lnSpc>
                <a:spcPct val="106000"/>
              </a:lnSpc>
              <a:buNone/>
            </a:pPr>
            <a:r>
              <a:rPr lang="en-US" sz="600" dirty="0">
                <a:solidFill>
                  <a:srgbClr val="3B3535"/>
                </a:solidFill>
                <a:latin typeface="Sora Light" pitchFamily="34" charset="0"/>
                <a:ea typeface="Sora Light" pitchFamily="34" charset="-122"/>
                <a:cs typeface="Sora Light" pitchFamily="34" charset="-120"/>
              </a:rPr>
              <a:t>Structured findings, root-cause hypotheses and remediation steps returned to the dashboard.</a:t>
            </a:r>
            <a:endParaRPr lang="en-US" sz="600" dirty="0"/>
          </a:p>
        </p:txBody>
      </p:sp>
      <p:sp>
        <p:nvSpPr>
          <p:cNvPr id="24" name="Text 21"/>
          <p:cNvSpPr/>
          <p:nvPr/>
        </p:nvSpPr>
        <p:spPr>
          <a:xfrm>
            <a:off x="1652141" y="4640759"/>
            <a:ext cx="6296918" cy="102468"/>
          </a:xfrm>
          <a:prstGeom prst="rect">
            <a:avLst/>
          </a:prstGeom>
          <a:noFill/>
          <a:ln/>
        </p:spPr>
        <p:txBody>
          <a:bodyPr wrap="none" lIns="0" tIns="0" rIns="0" bIns="0" rtlCol="0" anchor="t"/>
          <a:lstStyle/>
          <a:p>
            <a:pPr marL="0" indent="0" algn="l">
              <a:lnSpc>
                <a:spcPct val="106000"/>
              </a:lnSpc>
              <a:buNone/>
            </a:pPr>
            <a:r>
              <a:rPr lang="en-US" sz="600" dirty="0">
                <a:solidFill>
                  <a:srgbClr val="3B3535"/>
                </a:solidFill>
                <a:latin typeface="Sora Light" pitchFamily="34" charset="0"/>
                <a:ea typeface="Sora Light" pitchFamily="34" charset="-122"/>
                <a:cs typeface="Sora Light" pitchFamily="34" charset="-120"/>
              </a:rPr>
              <a:t>Next steps: security hardening, multi-host orchestration (K8s integration), evaluation on real incident scenarios.</a:t>
            </a:r>
            <a:endParaRPr lang="en-US" sz="600" dirty="0"/>
          </a:p>
        </p:txBody>
      </p:sp>
      <p:pic>
        <p:nvPicPr>
          <p:cNvPr id="25" name="Picture 24">
            <a:extLst>
              <a:ext uri="{FF2B5EF4-FFF2-40B4-BE49-F238E27FC236}">
                <a16:creationId xmlns:a16="http://schemas.microsoft.com/office/drawing/2014/main" id="{6117505A-7269-84FA-3966-21BD7C208B60}"/>
              </a:ext>
            </a:extLst>
          </p:cNvPr>
          <p:cNvPicPr>
            <a:picLocks noChangeAspect="1"/>
          </p:cNvPicPr>
          <p:nvPr/>
        </p:nvPicPr>
        <p:blipFill>
          <a:blip r:embed="rId4"/>
          <a:stretch>
            <a:fillRect/>
          </a:stretch>
        </p:blipFill>
        <p:spPr>
          <a:xfrm>
            <a:off x="7357403" y="4778839"/>
            <a:ext cx="1786597" cy="3437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06946" y="413593"/>
            <a:ext cx="3869308" cy="340965"/>
          </a:xfrm>
          <a:prstGeom prst="rect">
            <a:avLst/>
          </a:prstGeom>
          <a:noFill/>
          <a:ln/>
        </p:spPr>
        <p:txBody>
          <a:bodyPr wrap="none" lIns="0" tIns="0" rIns="0" bIns="0" rtlCol="0" anchor="t"/>
          <a:lstStyle/>
          <a:p>
            <a:pPr marL="0" indent="0" algn="l">
              <a:lnSpc>
                <a:spcPct val="104000"/>
              </a:lnSpc>
              <a:buNone/>
            </a:pPr>
            <a:r>
              <a:rPr lang="en-US" sz="2100" dirty="0">
                <a:solidFill>
                  <a:srgbClr val="1F1E1E"/>
                </a:solidFill>
                <a:latin typeface="Alexandria SemiBold" pitchFamily="34" charset="0"/>
                <a:ea typeface="Alexandria SemiBold" pitchFamily="34" charset="-122"/>
                <a:cs typeface="Alexandria SemiBold" pitchFamily="34" charset="-120"/>
              </a:rPr>
              <a:t>Agent Loop Architecture</a:t>
            </a:r>
            <a:endParaRPr lang="en-US" sz="2100" dirty="0"/>
          </a:p>
        </p:txBody>
      </p:sp>
      <p:sp>
        <p:nvSpPr>
          <p:cNvPr id="3" name="Text 1"/>
          <p:cNvSpPr/>
          <p:nvPr/>
        </p:nvSpPr>
        <p:spPr>
          <a:xfrm>
            <a:off x="806946" y="913284"/>
            <a:ext cx="7530108" cy="292745"/>
          </a:xfrm>
          <a:prstGeom prst="rect">
            <a:avLst/>
          </a:prstGeom>
          <a:noFill/>
          <a:ln/>
        </p:spPr>
        <p:txBody>
          <a:bodyPr wrap="square" lIns="0" tIns="0" rIns="0" bIns="0" rtlCol="0" anchor="t">
            <a:normAutofit/>
          </a:bodyPr>
          <a:lstStyle/>
          <a:p>
            <a:pPr marL="0" indent="0" algn="l">
              <a:lnSpc>
                <a:spcPct val="118000"/>
              </a:lnSpc>
              <a:buNone/>
            </a:pPr>
            <a:r>
              <a:rPr lang="en-US" sz="800" dirty="0">
                <a:solidFill>
                  <a:srgbClr val="3B3535"/>
                </a:solidFill>
                <a:latin typeface="Sora Light" pitchFamily="34" charset="0"/>
                <a:ea typeface="Sora Light" pitchFamily="34" charset="-122"/>
                <a:cs typeface="Sora Light" pitchFamily="34" charset="-120"/>
              </a:rPr>
              <a:t>Why an agent loop? It enables resilient, autonomous workflows that can adapt, retry and reason—critical for an automated monitoring &amp; remediation hackathon prototype.</a:t>
            </a:r>
            <a:endParaRPr lang="en-US" sz="800" dirty="0"/>
          </a:p>
        </p:txBody>
      </p:sp>
      <p:sp>
        <p:nvSpPr>
          <p:cNvPr id="4" name="Text 2"/>
          <p:cNvSpPr/>
          <p:nvPr/>
        </p:nvSpPr>
        <p:spPr>
          <a:xfrm>
            <a:off x="806946" y="1295326"/>
            <a:ext cx="207318" cy="129555"/>
          </a:xfrm>
          <a:prstGeom prst="rect">
            <a:avLst/>
          </a:prstGeom>
          <a:noFill/>
          <a:ln/>
        </p:spPr>
        <p:txBody>
          <a:bodyPr wrap="none" lIns="0" tIns="0" rIns="0" bIns="0" rtlCol="0" anchor="ctr"/>
          <a:lstStyle/>
          <a:p>
            <a:pPr marL="0" indent="0" algn="l">
              <a:lnSpc>
                <a:spcPct val="100000"/>
              </a:lnSpc>
              <a:buNone/>
            </a:pPr>
            <a:r>
              <a:rPr lang="en-US" sz="800" dirty="0">
                <a:solidFill>
                  <a:srgbClr val="3B3535"/>
                </a:solidFill>
                <a:latin typeface="Alexandria Light" pitchFamily="34" charset="0"/>
                <a:ea typeface="Alexandria Light" pitchFamily="34" charset="-122"/>
                <a:cs typeface="Alexandria Light" pitchFamily="34" charset="-120"/>
              </a:rPr>
              <a:t>01</a:t>
            </a:r>
            <a:endParaRPr lang="en-US" sz="800" dirty="0"/>
          </a:p>
        </p:txBody>
      </p:sp>
      <p:sp>
        <p:nvSpPr>
          <p:cNvPr id="5" name="Shape 3"/>
          <p:cNvSpPr/>
          <p:nvPr/>
        </p:nvSpPr>
        <p:spPr>
          <a:xfrm>
            <a:off x="806946" y="1457176"/>
            <a:ext cx="2457152" cy="14288"/>
          </a:xfrm>
          <a:prstGeom prst="rect">
            <a:avLst/>
          </a:prstGeom>
          <a:solidFill>
            <a:srgbClr val="1A2D7A"/>
          </a:solidFill>
          <a:ln/>
        </p:spPr>
        <p:txBody>
          <a:bodyPr/>
          <a:lstStyle/>
          <a:p>
            <a:endParaRPr lang="en-IN"/>
          </a:p>
        </p:txBody>
      </p:sp>
      <p:sp>
        <p:nvSpPr>
          <p:cNvPr id="6" name="Text 4"/>
          <p:cNvSpPr/>
          <p:nvPr/>
        </p:nvSpPr>
        <p:spPr>
          <a:xfrm>
            <a:off x="806946" y="1537543"/>
            <a:ext cx="1364159" cy="170483"/>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Understand Query</a:t>
            </a:r>
            <a:endParaRPr lang="en-US" sz="1050" dirty="0"/>
          </a:p>
        </p:txBody>
      </p:sp>
      <p:sp>
        <p:nvSpPr>
          <p:cNvPr id="7" name="Text 5"/>
          <p:cNvSpPr/>
          <p:nvPr/>
        </p:nvSpPr>
        <p:spPr>
          <a:xfrm>
            <a:off x="806946" y="1755651"/>
            <a:ext cx="2457152" cy="292745"/>
          </a:xfrm>
          <a:prstGeom prst="rect">
            <a:avLst/>
          </a:prstGeom>
          <a:noFill/>
          <a:ln/>
        </p:spPr>
        <p:txBody>
          <a:bodyPr wrap="square" lIns="0" tIns="0" rIns="0" bIns="0" rtlCol="0" anchor="t">
            <a:normAutofit/>
          </a:bodyPr>
          <a:lstStyle/>
          <a:p>
            <a:pPr marL="0" indent="0" algn="l">
              <a:lnSpc>
                <a:spcPct val="118000"/>
              </a:lnSpc>
              <a:buNone/>
            </a:pPr>
            <a:r>
              <a:rPr lang="en-US" sz="800" dirty="0">
                <a:solidFill>
                  <a:srgbClr val="3B3535"/>
                </a:solidFill>
                <a:latin typeface="Sora Light" pitchFamily="34" charset="0"/>
                <a:ea typeface="Sora Light" pitchFamily="34" charset="-122"/>
                <a:cs typeface="Sora Light" pitchFamily="34" charset="-120"/>
              </a:rPr>
              <a:t>LLM interprets user intent and extracts actionable parameters.</a:t>
            </a:r>
            <a:endParaRPr lang="en-US" sz="800" dirty="0"/>
          </a:p>
        </p:txBody>
      </p:sp>
      <p:sp>
        <p:nvSpPr>
          <p:cNvPr id="8" name="Text 6"/>
          <p:cNvSpPr/>
          <p:nvPr/>
        </p:nvSpPr>
        <p:spPr>
          <a:xfrm>
            <a:off x="3343424" y="1295326"/>
            <a:ext cx="207318" cy="129555"/>
          </a:xfrm>
          <a:prstGeom prst="rect">
            <a:avLst/>
          </a:prstGeom>
          <a:noFill/>
          <a:ln/>
        </p:spPr>
        <p:txBody>
          <a:bodyPr wrap="none" lIns="0" tIns="0" rIns="0" bIns="0" rtlCol="0" anchor="ctr"/>
          <a:lstStyle/>
          <a:p>
            <a:pPr marL="0" indent="0" algn="l">
              <a:lnSpc>
                <a:spcPct val="100000"/>
              </a:lnSpc>
              <a:buNone/>
            </a:pPr>
            <a:r>
              <a:rPr lang="en-US" sz="800" dirty="0">
                <a:solidFill>
                  <a:srgbClr val="3B3535"/>
                </a:solidFill>
                <a:latin typeface="Alexandria Light" pitchFamily="34" charset="0"/>
                <a:ea typeface="Alexandria Light" pitchFamily="34" charset="-122"/>
                <a:cs typeface="Alexandria Light" pitchFamily="34" charset="-120"/>
              </a:rPr>
              <a:t>02</a:t>
            </a:r>
            <a:endParaRPr lang="en-US" sz="800" dirty="0"/>
          </a:p>
        </p:txBody>
      </p:sp>
      <p:sp>
        <p:nvSpPr>
          <p:cNvPr id="9" name="Shape 7"/>
          <p:cNvSpPr/>
          <p:nvPr/>
        </p:nvSpPr>
        <p:spPr>
          <a:xfrm>
            <a:off x="3343424" y="1457176"/>
            <a:ext cx="2457152" cy="14288"/>
          </a:xfrm>
          <a:prstGeom prst="rect">
            <a:avLst/>
          </a:prstGeom>
          <a:solidFill>
            <a:srgbClr val="1A2D7A"/>
          </a:solidFill>
          <a:ln/>
        </p:spPr>
        <p:txBody>
          <a:bodyPr/>
          <a:lstStyle/>
          <a:p>
            <a:endParaRPr lang="en-IN"/>
          </a:p>
        </p:txBody>
      </p:sp>
      <p:sp>
        <p:nvSpPr>
          <p:cNvPr id="10" name="Text 8"/>
          <p:cNvSpPr/>
          <p:nvPr/>
        </p:nvSpPr>
        <p:spPr>
          <a:xfrm>
            <a:off x="3343424" y="1537543"/>
            <a:ext cx="1364159" cy="170483"/>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Execute Action</a:t>
            </a:r>
            <a:endParaRPr lang="en-US" sz="1050" dirty="0"/>
          </a:p>
        </p:txBody>
      </p:sp>
      <p:sp>
        <p:nvSpPr>
          <p:cNvPr id="11" name="Text 9"/>
          <p:cNvSpPr/>
          <p:nvPr/>
        </p:nvSpPr>
        <p:spPr>
          <a:xfrm>
            <a:off x="3343424" y="1755651"/>
            <a:ext cx="2457152" cy="292745"/>
          </a:xfrm>
          <a:prstGeom prst="rect">
            <a:avLst/>
          </a:prstGeom>
          <a:noFill/>
          <a:ln/>
        </p:spPr>
        <p:txBody>
          <a:bodyPr wrap="square" lIns="0" tIns="0" rIns="0" bIns="0" rtlCol="0" anchor="t">
            <a:normAutofit/>
          </a:bodyPr>
          <a:lstStyle/>
          <a:p>
            <a:pPr marL="0" indent="0" algn="l">
              <a:lnSpc>
                <a:spcPct val="118000"/>
              </a:lnSpc>
              <a:buNone/>
            </a:pPr>
            <a:r>
              <a:rPr lang="en-US" sz="800" dirty="0">
                <a:solidFill>
                  <a:srgbClr val="3B3535"/>
                </a:solidFill>
                <a:latin typeface="Sora Light" pitchFamily="34" charset="0"/>
                <a:ea typeface="Sora Light" pitchFamily="34" charset="-122"/>
                <a:cs typeface="Sora Light" pitchFamily="34" charset="-120"/>
              </a:rPr>
              <a:t>Agent invokes Docker SDK or external APIs to perform the task.</a:t>
            </a:r>
            <a:endParaRPr lang="en-US" sz="800" dirty="0"/>
          </a:p>
        </p:txBody>
      </p:sp>
      <p:sp>
        <p:nvSpPr>
          <p:cNvPr id="12" name="Text 10"/>
          <p:cNvSpPr/>
          <p:nvPr/>
        </p:nvSpPr>
        <p:spPr>
          <a:xfrm>
            <a:off x="5879902" y="1295326"/>
            <a:ext cx="207318" cy="129555"/>
          </a:xfrm>
          <a:prstGeom prst="rect">
            <a:avLst/>
          </a:prstGeom>
          <a:noFill/>
          <a:ln/>
        </p:spPr>
        <p:txBody>
          <a:bodyPr wrap="none" lIns="0" tIns="0" rIns="0" bIns="0" rtlCol="0" anchor="ctr"/>
          <a:lstStyle/>
          <a:p>
            <a:pPr marL="0" indent="0" algn="l">
              <a:lnSpc>
                <a:spcPct val="100000"/>
              </a:lnSpc>
              <a:buNone/>
            </a:pPr>
            <a:r>
              <a:rPr lang="en-US" sz="800" dirty="0">
                <a:solidFill>
                  <a:srgbClr val="3B3535"/>
                </a:solidFill>
                <a:latin typeface="Alexandria Light" pitchFamily="34" charset="0"/>
                <a:ea typeface="Alexandria Light" pitchFamily="34" charset="-122"/>
                <a:cs typeface="Alexandria Light" pitchFamily="34" charset="-120"/>
              </a:rPr>
              <a:t>03</a:t>
            </a:r>
            <a:endParaRPr lang="en-US" sz="800" dirty="0"/>
          </a:p>
        </p:txBody>
      </p:sp>
      <p:sp>
        <p:nvSpPr>
          <p:cNvPr id="13" name="Shape 11"/>
          <p:cNvSpPr/>
          <p:nvPr/>
        </p:nvSpPr>
        <p:spPr>
          <a:xfrm>
            <a:off x="5879902" y="1457176"/>
            <a:ext cx="2457152" cy="14288"/>
          </a:xfrm>
          <a:prstGeom prst="rect">
            <a:avLst/>
          </a:prstGeom>
          <a:solidFill>
            <a:srgbClr val="1A2D7A"/>
          </a:solidFill>
          <a:ln/>
        </p:spPr>
        <p:txBody>
          <a:bodyPr/>
          <a:lstStyle/>
          <a:p>
            <a:endParaRPr lang="en-IN"/>
          </a:p>
        </p:txBody>
      </p:sp>
      <p:sp>
        <p:nvSpPr>
          <p:cNvPr id="14" name="Text 12"/>
          <p:cNvSpPr/>
          <p:nvPr/>
        </p:nvSpPr>
        <p:spPr>
          <a:xfrm>
            <a:off x="5879902" y="1537543"/>
            <a:ext cx="1364159" cy="170483"/>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Check Results</a:t>
            </a:r>
            <a:endParaRPr lang="en-US" sz="1050" dirty="0"/>
          </a:p>
        </p:txBody>
      </p:sp>
      <p:sp>
        <p:nvSpPr>
          <p:cNvPr id="15" name="Text 13"/>
          <p:cNvSpPr/>
          <p:nvPr/>
        </p:nvSpPr>
        <p:spPr>
          <a:xfrm>
            <a:off x="5879902" y="1755651"/>
            <a:ext cx="2457152" cy="292745"/>
          </a:xfrm>
          <a:prstGeom prst="rect">
            <a:avLst/>
          </a:prstGeom>
          <a:noFill/>
          <a:ln/>
        </p:spPr>
        <p:txBody>
          <a:bodyPr wrap="square" lIns="0" tIns="0" rIns="0" bIns="0" rtlCol="0" anchor="t">
            <a:normAutofit/>
          </a:bodyPr>
          <a:lstStyle/>
          <a:p>
            <a:pPr marL="0" indent="0" algn="l">
              <a:lnSpc>
                <a:spcPct val="118000"/>
              </a:lnSpc>
              <a:buNone/>
            </a:pPr>
            <a:r>
              <a:rPr lang="en-US" sz="800" dirty="0">
                <a:solidFill>
                  <a:srgbClr val="3B3535"/>
                </a:solidFill>
                <a:latin typeface="Sora Light" pitchFamily="34" charset="0"/>
                <a:ea typeface="Sora Light" pitchFamily="34" charset="-122"/>
                <a:cs typeface="Sora Light" pitchFamily="34" charset="-120"/>
              </a:rPr>
              <a:t>Validate outputs, logs and status codes against expected outcomes.</a:t>
            </a:r>
            <a:endParaRPr lang="en-US" sz="800" dirty="0"/>
          </a:p>
        </p:txBody>
      </p:sp>
      <p:sp>
        <p:nvSpPr>
          <p:cNvPr id="16" name="Text 14"/>
          <p:cNvSpPr/>
          <p:nvPr/>
        </p:nvSpPr>
        <p:spPr>
          <a:xfrm>
            <a:off x="806946" y="2205410"/>
            <a:ext cx="207318" cy="129555"/>
          </a:xfrm>
          <a:prstGeom prst="rect">
            <a:avLst/>
          </a:prstGeom>
          <a:noFill/>
          <a:ln/>
        </p:spPr>
        <p:txBody>
          <a:bodyPr wrap="none" lIns="0" tIns="0" rIns="0" bIns="0" rtlCol="0" anchor="ctr"/>
          <a:lstStyle/>
          <a:p>
            <a:pPr marL="0" indent="0" algn="l">
              <a:lnSpc>
                <a:spcPct val="100000"/>
              </a:lnSpc>
              <a:buNone/>
            </a:pPr>
            <a:r>
              <a:rPr lang="en-US" sz="800" dirty="0">
                <a:solidFill>
                  <a:srgbClr val="3B3535"/>
                </a:solidFill>
                <a:latin typeface="Alexandria Light" pitchFamily="34" charset="0"/>
                <a:ea typeface="Alexandria Light" pitchFamily="34" charset="-122"/>
                <a:cs typeface="Alexandria Light" pitchFamily="34" charset="-120"/>
              </a:rPr>
              <a:t>04</a:t>
            </a:r>
            <a:endParaRPr lang="en-US" sz="800" dirty="0"/>
          </a:p>
        </p:txBody>
      </p:sp>
      <p:sp>
        <p:nvSpPr>
          <p:cNvPr id="17" name="Shape 15"/>
          <p:cNvSpPr/>
          <p:nvPr/>
        </p:nvSpPr>
        <p:spPr>
          <a:xfrm>
            <a:off x="806946" y="2367260"/>
            <a:ext cx="3725391" cy="14288"/>
          </a:xfrm>
          <a:prstGeom prst="rect">
            <a:avLst/>
          </a:prstGeom>
          <a:solidFill>
            <a:srgbClr val="1A2D7A"/>
          </a:solidFill>
          <a:ln/>
        </p:spPr>
        <p:txBody>
          <a:bodyPr/>
          <a:lstStyle/>
          <a:p>
            <a:endParaRPr lang="en-IN"/>
          </a:p>
        </p:txBody>
      </p:sp>
      <p:sp>
        <p:nvSpPr>
          <p:cNvPr id="18" name="Text 16"/>
          <p:cNvSpPr/>
          <p:nvPr/>
        </p:nvSpPr>
        <p:spPr>
          <a:xfrm>
            <a:off x="806946" y="2447627"/>
            <a:ext cx="1364159" cy="170483"/>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Retry if Needed</a:t>
            </a:r>
            <a:endParaRPr lang="en-US" sz="1050" dirty="0"/>
          </a:p>
        </p:txBody>
      </p:sp>
      <p:sp>
        <p:nvSpPr>
          <p:cNvPr id="19" name="Text 17"/>
          <p:cNvSpPr/>
          <p:nvPr/>
        </p:nvSpPr>
        <p:spPr>
          <a:xfrm>
            <a:off x="806946" y="2665735"/>
            <a:ext cx="3725391" cy="146372"/>
          </a:xfrm>
          <a:prstGeom prst="rect">
            <a:avLst/>
          </a:prstGeom>
          <a:noFill/>
          <a:ln/>
        </p:spPr>
        <p:txBody>
          <a:bodyPr wrap="none" lIns="0" tIns="0" rIns="0" bIns="0" rtlCol="0" anchor="t"/>
          <a:lstStyle/>
          <a:p>
            <a:pPr marL="0" indent="0" algn="l">
              <a:lnSpc>
                <a:spcPct val="118000"/>
              </a:lnSpc>
              <a:buNone/>
            </a:pPr>
            <a:r>
              <a:rPr lang="en-US" sz="800" dirty="0">
                <a:solidFill>
                  <a:srgbClr val="3B3535"/>
                </a:solidFill>
                <a:latin typeface="Sora Light" pitchFamily="34" charset="0"/>
                <a:ea typeface="Sora Light" pitchFamily="34" charset="-122"/>
                <a:cs typeface="Sora Light" pitchFamily="34" charset="-120"/>
              </a:rPr>
              <a:t>Backoff and retry logic triggered for transient failures.</a:t>
            </a:r>
            <a:endParaRPr lang="en-US" sz="800" dirty="0"/>
          </a:p>
        </p:txBody>
      </p:sp>
      <p:sp>
        <p:nvSpPr>
          <p:cNvPr id="20" name="Text 18"/>
          <p:cNvSpPr/>
          <p:nvPr/>
        </p:nvSpPr>
        <p:spPr>
          <a:xfrm>
            <a:off x="4611663" y="2205410"/>
            <a:ext cx="207318" cy="129555"/>
          </a:xfrm>
          <a:prstGeom prst="rect">
            <a:avLst/>
          </a:prstGeom>
          <a:noFill/>
          <a:ln/>
        </p:spPr>
        <p:txBody>
          <a:bodyPr wrap="none" lIns="0" tIns="0" rIns="0" bIns="0" rtlCol="0" anchor="ctr"/>
          <a:lstStyle/>
          <a:p>
            <a:pPr marL="0" indent="0" algn="l">
              <a:lnSpc>
                <a:spcPct val="100000"/>
              </a:lnSpc>
              <a:buNone/>
            </a:pPr>
            <a:r>
              <a:rPr lang="en-US" sz="800" dirty="0">
                <a:solidFill>
                  <a:srgbClr val="3B3535"/>
                </a:solidFill>
                <a:latin typeface="Alexandria Light" pitchFamily="34" charset="0"/>
                <a:ea typeface="Alexandria Light" pitchFamily="34" charset="-122"/>
                <a:cs typeface="Alexandria Light" pitchFamily="34" charset="-120"/>
              </a:rPr>
              <a:t>05</a:t>
            </a:r>
            <a:endParaRPr lang="en-US" sz="800" dirty="0"/>
          </a:p>
        </p:txBody>
      </p:sp>
      <p:sp>
        <p:nvSpPr>
          <p:cNvPr id="21" name="Shape 19"/>
          <p:cNvSpPr/>
          <p:nvPr/>
        </p:nvSpPr>
        <p:spPr>
          <a:xfrm>
            <a:off x="4611663" y="2367260"/>
            <a:ext cx="3725391" cy="14288"/>
          </a:xfrm>
          <a:prstGeom prst="rect">
            <a:avLst/>
          </a:prstGeom>
          <a:solidFill>
            <a:srgbClr val="1A2D7A"/>
          </a:solidFill>
          <a:ln/>
        </p:spPr>
        <p:txBody>
          <a:bodyPr/>
          <a:lstStyle/>
          <a:p>
            <a:endParaRPr lang="en-IN"/>
          </a:p>
        </p:txBody>
      </p:sp>
      <p:sp>
        <p:nvSpPr>
          <p:cNvPr id="22" name="Text 20"/>
          <p:cNvSpPr/>
          <p:nvPr/>
        </p:nvSpPr>
        <p:spPr>
          <a:xfrm>
            <a:off x="4611663" y="2447627"/>
            <a:ext cx="1364159" cy="170483"/>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Generate Response</a:t>
            </a:r>
            <a:endParaRPr lang="en-US" sz="1050" dirty="0"/>
          </a:p>
        </p:txBody>
      </p:sp>
      <p:sp>
        <p:nvSpPr>
          <p:cNvPr id="23" name="Text 21"/>
          <p:cNvSpPr/>
          <p:nvPr/>
        </p:nvSpPr>
        <p:spPr>
          <a:xfrm>
            <a:off x="4611663" y="2665735"/>
            <a:ext cx="3725391" cy="292745"/>
          </a:xfrm>
          <a:prstGeom prst="rect">
            <a:avLst/>
          </a:prstGeom>
          <a:noFill/>
          <a:ln/>
        </p:spPr>
        <p:txBody>
          <a:bodyPr wrap="square" lIns="0" tIns="0" rIns="0" bIns="0" rtlCol="0" anchor="t">
            <a:normAutofit/>
          </a:bodyPr>
          <a:lstStyle/>
          <a:p>
            <a:pPr marL="0" indent="0" algn="l">
              <a:lnSpc>
                <a:spcPct val="118000"/>
              </a:lnSpc>
              <a:buNone/>
            </a:pPr>
            <a:r>
              <a:rPr lang="en-US" sz="800" dirty="0">
                <a:solidFill>
                  <a:srgbClr val="3B3535"/>
                </a:solidFill>
                <a:latin typeface="Sora Light" pitchFamily="34" charset="0"/>
                <a:ea typeface="Sora Light" pitchFamily="34" charset="-122"/>
                <a:cs typeface="Sora Light" pitchFamily="34" charset="-120"/>
              </a:rPr>
              <a:t>Compose a concise, human-friendly summary with recommended next steps.</a:t>
            </a:r>
            <a:endParaRPr lang="en-US" sz="800" dirty="0"/>
          </a:p>
        </p:txBody>
      </p:sp>
      <p:pic>
        <p:nvPicPr>
          <p:cNvPr id="2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6946" y="3125465"/>
            <a:ext cx="259184" cy="259184"/>
          </a:xfrm>
          <a:prstGeom prst="rect">
            <a:avLst/>
          </a:prstGeom>
        </p:spPr>
      </p:pic>
      <p:sp>
        <p:nvSpPr>
          <p:cNvPr id="25" name="Text 22"/>
          <p:cNvSpPr/>
          <p:nvPr/>
        </p:nvSpPr>
        <p:spPr>
          <a:xfrm>
            <a:off x="806946" y="3483843"/>
            <a:ext cx="1364159" cy="170483"/>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Automation</a:t>
            </a:r>
            <a:endParaRPr lang="en-US" sz="1050" dirty="0"/>
          </a:p>
        </p:txBody>
      </p:sp>
      <p:sp>
        <p:nvSpPr>
          <p:cNvPr id="26" name="Text 23"/>
          <p:cNvSpPr/>
          <p:nvPr/>
        </p:nvSpPr>
        <p:spPr>
          <a:xfrm>
            <a:off x="806946" y="3701951"/>
            <a:ext cx="3715420" cy="146372"/>
          </a:xfrm>
          <a:prstGeom prst="rect">
            <a:avLst/>
          </a:prstGeom>
          <a:noFill/>
          <a:ln/>
        </p:spPr>
        <p:txBody>
          <a:bodyPr wrap="none" lIns="0" tIns="0" rIns="0" bIns="0" rtlCol="0" anchor="t"/>
          <a:lstStyle/>
          <a:p>
            <a:pPr marL="0" indent="0" algn="l">
              <a:lnSpc>
                <a:spcPct val="118000"/>
              </a:lnSpc>
              <a:buNone/>
            </a:pPr>
            <a:r>
              <a:rPr lang="en-US" sz="800" dirty="0">
                <a:solidFill>
                  <a:srgbClr val="3B3535"/>
                </a:solidFill>
                <a:latin typeface="Sora Light" pitchFamily="34" charset="0"/>
                <a:ea typeface="Sora Light" pitchFamily="34" charset="-122"/>
                <a:cs typeface="Sora Light" pitchFamily="34" charset="-120"/>
              </a:rPr>
              <a:t>Reduces manual operator load for routine container tasks.</a:t>
            </a:r>
            <a:endParaRPr lang="en-US" sz="800" dirty="0"/>
          </a:p>
        </p:txBody>
      </p:sp>
      <p:pic>
        <p:nvPicPr>
          <p:cNvPr id="2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21560" y="3125465"/>
            <a:ext cx="259184" cy="259184"/>
          </a:xfrm>
          <a:prstGeom prst="rect">
            <a:avLst/>
          </a:prstGeom>
        </p:spPr>
      </p:pic>
      <p:sp>
        <p:nvSpPr>
          <p:cNvPr id="28" name="Text 24"/>
          <p:cNvSpPr/>
          <p:nvPr/>
        </p:nvSpPr>
        <p:spPr>
          <a:xfrm>
            <a:off x="4621560" y="3483843"/>
            <a:ext cx="1364159" cy="170483"/>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Error handling</a:t>
            </a:r>
            <a:endParaRPr lang="en-US" sz="1050" dirty="0"/>
          </a:p>
        </p:txBody>
      </p:sp>
      <p:sp>
        <p:nvSpPr>
          <p:cNvPr id="29" name="Text 25"/>
          <p:cNvSpPr/>
          <p:nvPr/>
        </p:nvSpPr>
        <p:spPr>
          <a:xfrm>
            <a:off x="4621560" y="3701951"/>
            <a:ext cx="3715494" cy="146372"/>
          </a:xfrm>
          <a:prstGeom prst="rect">
            <a:avLst/>
          </a:prstGeom>
          <a:noFill/>
          <a:ln/>
        </p:spPr>
        <p:txBody>
          <a:bodyPr wrap="none" lIns="0" tIns="0" rIns="0" bIns="0" rtlCol="0" anchor="t"/>
          <a:lstStyle/>
          <a:p>
            <a:pPr marL="0" indent="0" algn="l">
              <a:lnSpc>
                <a:spcPct val="118000"/>
              </a:lnSpc>
              <a:buNone/>
            </a:pPr>
            <a:r>
              <a:rPr lang="en-US" sz="800" dirty="0">
                <a:solidFill>
                  <a:srgbClr val="3B3535"/>
                </a:solidFill>
                <a:latin typeface="Sora Light" pitchFamily="34" charset="0"/>
                <a:ea typeface="Sora Light" pitchFamily="34" charset="-122"/>
                <a:cs typeface="Sora Light" pitchFamily="34" charset="-120"/>
              </a:rPr>
              <a:t>Structured retries and fallbacks improve reliability.</a:t>
            </a:r>
            <a:endParaRPr lang="en-US" sz="800" dirty="0"/>
          </a:p>
        </p:txBody>
      </p:sp>
      <p:pic>
        <p:nvPicPr>
          <p:cNvPr id="3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6946" y="4007048"/>
            <a:ext cx="259184" cy="259184"/>
          </a:xfrm>
          <a:prstGeom prst="rect">
            <a:avLst/>
          </a:prstGeom>
        </p:spPr>
      </p:pic>
      <p:sp>
        <p:nvSpPr>
          <p:cNvPr id="31" name="Text 26"/>
          <p:cNvSpPr/>
          <p:nvPr/>
        </p:nvSpPr>
        <p:spPr>
          <a:xfrm>
            <a:off x="806946" y="4365427"/>
            <a:ext cx="1364159" cy="170483"/>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Decision making</a:t>
            </a:r>
            <a:endParaRPr lang="en-US" sz="1050" dirty="0"/>
          </a:p>
        </p:txBody>
      </p:sp>
      <p:sp>
        <p:nvSpPr>
          <p:cNvPr id="32" name="Text 27"/>
          <p:cNvSpPr/>
          <p:nvPr/>
        </p:nvSpPr>
        <p:spPr>
          <a:xfrm>
            <a:off x="806946" y="4583534"/>
            <a:ext cx="3715420" cy="146372"/>
          </a:xfrm>
          <a:prstGeom prst="rect">
            <a:avLst/>
          </a:prstGeom>
          <a:noFill/>
          <a:ln/>
        </p:spPr>
        <p:txBody>
          <a:bodyPr wrap="none" lIns="0" tIns="0" rIns="0" bIns="0" rtlCol="0" anchor="t"/>
          <a:lstStyle/>
          <a:p>
            <a:pPr marL="0" indent="0" algn="l">
              <a:lnSpc>
                <a:spcPct val="118000"/>
              </a:lnSpc>
              <a:buNone/>
            </a:pPr>
            <a:r>
              <a:rPr lang="en-US" sz="800" dirty="0">
                <a:solidFill>
                  <a:srgbClr val="3B3535"/>
                </a:solidFill>
                <a:latin typeface="Sora Light" pitchFamily="34" charset="0"/>
                <a:ea typeface="Sora Light" pitchFamily="34" charset="-122"/>
                <a:cs typeface="Sora Light" pitchFamily="34" charset="-120"/>
              </a:rPr>
              <a:t>Contextual reasoning enables safer, targeted actions.</a:t>
            </a:r>
            <a:endParaRPr lang="en-US" sz="800" dirty="0"/>
          </a:p>
        </p:txBody>
      </p:sp>
      <p:pic>
        <p:nvPicPr>
          <p:cNvPr id="3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21560" y="4007048"/>
            <a:ext cx="259184" cy="259184"/>
          </a:xfrm>
          <a:prstGeom prst="rect">
            <a:avLst/>
          </a:prstGeom>
        </p:spPr>
      </p:pic>
      <p:sp>
        <p:nvSpPr>
          <p:cNvPr id="34" name="Text 28"/>
          <p:cNvSpPr/>
          <p:nvPr/>
        </p:nvSpPr>
        <p:spPr>
          <a:xfrm>
            <a:off x="4621560" y="4365427"/>
            <a:ext cx="1433885" cy="170483"/>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Intelligent execution</a:t>
            </a:r>
            <a:endParaRPr lang="en-US" sz="1050" dirty="0"/>
          </a:p>
        </p:txBody>
      </p:sp>
      <p:sp>
        <p:nvSpPr>
          <p:cNvPr id="35" name="Text 29"/>
          <p:cNvSpPr/>
          <p:nvPr/>
        </p:nvSpPr>
        <p:spPr>
          <a:xfrm>
            <a:off x="4621560" y="4583534"/>
            <a:ext cx="3715494" cy="146372"/>
          </a:xfrm>
          <a:prstGeom prst="rect">
            <a:avLst/>
          </a:prstGeom>
          <a:noFill/>
          <a:ln/>
        </p:spPr>
        <p:txBody>
          <a:bodyPr wrap="none" lIns="0" tIns="0" rIns="0" bIns="0" rtlCol="0" anchor="t"/>
          <a:lstStyle/>
          <a:p>
            <a:pPr marL="0" indent="0" algn="l">
              <a:lnSpc>
                <a:spcPct val="118000"/>
              </a:lnSpc>
              <a:buNone/>
            </a:pPr>
            <a:r>
              <a:rPr lang="en-US" sz="800" dirty="0">
                <a:solidFill>
                  <a:srgbClr val="3B3535"/>
                </a:solidFill>
                <a:latin typeface="Sora Light" pitchFamily="34" charset="0"/>
                <a:ea typeface="Sora Light" pitchFamily="34" charset="-122"/>
                <a:cs typeface="Sora Light" pitchFamily="34" charset="-120"/>
              </a:rPr>
              <a:t>Combines LLM intent with system-level operations for faster outcomes.</a:t>
            </a:r>
            <a:endParaRPr lang="en-US" sz="800" dirty="0"/>
          </a:p>
        </p:txBody>
      </p:sp>
      <p:pic>
        <p:nvPicPr>
          <p:cNvPr id="36" name="Picture 35">
            <a:extLst>
              <a:ext uri="{FF2B5EF4-FFF2-40B4-BE49-F238E27FC236}">
                <a16:creationId xmlns:a16="http://schemas.microsoft.com/office/drawing/2014/main" id="{E928BC9B-16A3-F65B-CB79-EFC139BFEB24}"/>
              </a:ext>
            </a:extLst>
          </p:cNvPr>
          <p:cNvPicPr>
            <a:picLocks noChangeAspect="1"/>
          </p:cNvPicPr>
          <p:nvPr/>
        </p:nvPicPr>
        <p:blipFill>
          <a:blip r:embed="rId7"/>
          <a:stretch>
            <a:fillRect/>
          </a:stretch>
        </p:blipFill>
        <p:spPr>
          <a:xfrm>
            <a:off x="7078801" y="4791818"/>
            <a:ext cx="2065199" cy="2835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113136" y="372368"/>
            <a:ext cx="3128739" cy="222647"/>
          </a:xfrm>
          <a:prstGeom prst="rect">
            <a:avLst/>
          </a:prstGeom>
          <a:noFill/>
          <a:ln/>
        </p:spPr>
        <p:txBody>
          <a:bodyPr wrap="none" lIns="0" tIns="0" rIns="0" bIns="0" rtlCol="0" anchor="t"/>
          <a:lstStyle/>
          <a:p>
            <a:pPr marL="0" indent="0" algn="l">
              <a:lnSpc>
                <a:spcPct val="104000"/>
              </a:lnSpc>
              <a:buNone/>
            </a:pPr>
            <a:r>
              <a:rPr lang="en-US" sz="1400" dirty="0">
                <a:solidFill>
                  <a:srgbClr val="1F1E1E"/>
                </a:solidFill>
                <a:latin typeface="Alexandria SemiBold" pitchFamily="34" charset="0"/>
                <a:ea typeface="Alexandria SemiBold" pitchFamily="34" charset="-122"/>
                <a:cs typeface="Alexandria SemiBold" pitchFamily="34" charset="-120"/>
              </a:rPr>
              <a:t>AI-Based Root Cause Analysis</a:t>
            </a:r>
            <a:endParaRPr lang="en-US" sz="1400" dirty="0"/>
          </a:p>
        </p:txBody>
      </p:sp>
      <p:sp>
        <p:nvSpPr>
          <p:cNvPr id="3" name="Text 1"/>
          <p:cNvSpPr/>
          <p:nvPr/>
        </p:nvSpPr>
        <p:spPr>
          <a:xfrm>
            <a:off x="2113136" y="662657"/>
            <a:ext cx="5374853" cy="81260"/>
          </a:xfrm>
          <a:prstGeom prst="rect">
            <a:avLst/>
          </a:prstGeom>
          <a:noFill/>
          <a:ln/>
        </p:spPr>
        <p:txBody>
          <a:bodyPr wrap="none" lIns="0" tIns="0" rIns="0" bIns="0" rtlCol="0" anchor="t"/>
          <a:lstStyle/>
          <a:p>
            <a:pPr marL="0" indent="0" algn="l">
              <a:lnSpc>
                <a:spcPct val="100000"/>
              </a:lnSpc>
              <a:buNone/>
            </a:pPr>
            <a:r>
              <a:rPr lang="en-US" sz="500" dirty="0">
                <a:solidFill>
                  <a:srgbClr val="3B3535"/>
                </a:solidFill>
                <a:latin typeface="Sora Light" pitchFamily="34" charset="0"/>
                <a:ea typeface="Sora Light" pitchFamily="34" charset="-122"/>
                <a:cs typeface="Sora Light" pitchFamily="34" charset="-120"/>
              </a:rPr>
              <a:t>From raw logs to actionable guidance—an automated pipeline that extracts evidence, infers causes, and recommends fixes.</a:t>
            </a:r>
            <a:endParaRPr lang="en-US" sz="500" dirty="0"/>
          </a:p>
        </p:txBody>
      </p:sp>
      <p:pic>
        <p:nvPicPr>
          <p:cNvPr id="4" name="Image 0" descr="preencoded.png"/>
          <p:cNvPicPr>
            <a:picLocks noChangeAspect="1"/>
          </p:cNvPicPr>
          <p:nvPr/>
        </p:nvPicPr>
        <p:blipFill>
          <a:blip r:embed="rId3"/>
          <a:stretch>
            <a:fillRect/>
          </a:stretch>
        </p:blipFill>
        <p:spPr>
          <a:xfrm>
            <a:off x="2133377" y="781943"/>
            <a:ext cx="4877098" cy="2103090"/>
          </a:xfrm>
          <a:prstGeom prst="rect">
            <a:avLst/>
          </a:prstGeom>
        </p:spPr>
      </p:pic>
      <p:sp>
        <p:nvSpPr>
          <p:cNvPr id="5" name="Text 2"/>
          <p:cNvSpPr/>
          <p:nvPr/>
        </p:nvSpPr>
        <p:spPr>
          <a:xfrm>
            <a:off x="2461581" y="2482521"/>
            <a:ext cx="1164600" cy="145604"/>
          </a:xfrm>
          <a:prstGeom prst="rect">
            <a:avLst/>
          </a:prstGeom>
          <a:noFill/>
          <a:ln/>
        </p:spPr>
        <p:txBody>
          <a:bodyPr wrap="none" lIns="0" tIns="0" rIns="0" bIns="0" rtlCol="0" anchor="t"/>
          <a:lstStyle/>
          <a:p>
            <a:pPr marL="0" indent="0" algn="l">
              <a:lnSpc>
                <a:spcPct val="104000"/>
              </a:lnSpc>
              <a:buNone/>
            </a:pPr>
            <a:r>
              <a:rPr lang="en-US" sz="900" dirty="0">
                <a:solidFill>
                  <a:srgbClr val="FFFFFF"/>
                </a:solidFill>
                <a:latin typeface="Alexandria SemiBold" pitchFamily="34" charset="0"/>
                <a:ea typeface="Alexandria SemiBold" pitchFamily="34" charset="-122"/>
                <a:cs typeface="Alexandria SemiBold" pitchFamily="34" charset="-120"/>
              </a:rPr>
              <a:t>Recommend Fix</a:t>
            </a:r>
            <a:endParaRPr lang="en-US" sz="900" dirty="0"/>
          </a:p>
        </p:txBody>
      </p:sp>
      <p:sp>
        <p:nvSpPr>
          <p:cNvPr id="6" name="Text 3"/>
          <p:cNvSpPr/>
          <p:nvPr/>
        </p:nvSpPr>
        <p:spPr>
          <a:xfrm>
            <a:off x="2461581" y="1995689"/>
            <a:ext cx="1285155" cy="145604"/>
          </a:xfrm>
          <a:prstGeom prst="rect">
            <a:avLst/>
          </a:prstGeom>
          <a:noFill/>
          <a:ln/>
        </p:spPr>
        <p:txBody>
          <a:bodyPr wrap="none" lIns="0" tIns="0" rIns="0" bIns="0" rtlCol="0" anchor="t"/>
          <a:lstStyle/>
          <a:p>
            <a:pPr marL="0" indent="0" algn="l">
              <a:lnSpc>
                <a:spcPct val="104000"/>
              </a:lnSpc>
              <a:buNone/>
            </a:pPr>
            <a:r>
              <a:rPr lang="en-US" sz="900" dirty="0">
                <a:solidFill>
                  <a:srgbClr val="FFFFFF"/>
                </a:solidFill>
                <a:latin typeface="Alexandria SemiBold" pitchFamily="34" charset="0"/>
                <a:ea typeface="Alexandria SemiBold" pitchFamily="34" charset="-122"/>
                <a:cs typeface="Alexandria SemiBold" pitchFamily="34" charset="-120"/>
              </a:rPr>
              <a:t>Generate Explanation</a:t>
            </a:r>
            <a:endParaRPr lang="en-US" sz="900" dirty="0"/>
          </a:p>
        </p:txBody>
      </p:sp>
      <p:sp>
        <p:nvSpPr>
          <p:cNvPr id="7" name="Text 4"/>
          <p:cNvSpPr/>
          <p:nvPr/>
        </p:nvSpPr>
        <p:spPr>
          <a:xfrm>
            <a:off x="2461581" y="1513775"/>
            <a:ext cx="1164600" cy="145604"/>
          </a:xfrm>
          <a:prstGeom prst="rect">
            <a:avLst/>
          </a:prstGeom>
          <a:noFill/>
          <a:ln/>
        </p:spPr>
        <p:txBody>
          <a:bodyPr wrap="none" lIns="0" tIns="0" rIns="0" bIns="0" rtlCol="0" anchor="t"/>
          <a:lstStyle/>
          <a:p>
            <a:pPr marL="0" indent="0" algn="l">
              <a:lnSpc>
                <a:spcPct val="104000"/>
              </a:lnSpc>
              <a:buNone/>
            </a:pPr>
            <a:r>
              <a:rPr lang="en-US" sz="900" dirty="0">
                <a:solidFill>
                  <a:srgbClr val="FFFFFF"/>
                </a:solidFill>
                <a:latin typeface="Alexandria SemiBold" pitchFamily="34" charset="0"/>
                <a:ea typeface="Alexandria SemiBold" pitchFamily="34" charset="-122"/>
                <a:cs typeface="Alexandria SemiBold" pitchFamily="34" charset="-120"/>
              </a:rPr>
              <a:t>Analyze Logs</a:t>
            </a:r>
            <a:endParaRPr lang="en-US" sz="900" dirty="0"/>
          </a:p>
        </p:txBody>
      </p:sp>
      <p:sp>
        <p:nvSpPr>
          <p:cNvPr id="8" name="Text 5"/>
          <p:cNvSpPr/>
          <p:nvPr/>
        </p:nvSpPr>
        <p:spPr>
          <a:xfrm>
            <a:off x="2461581" y="1026944"/>
            <a:ext cx="1164600" cy="145604"/>
          </a:xfrm>
          <a:prstGeom prst="rect">
            <a:avLst/>
          </a:prstGeom>
          <a:noFill/>
          <a:ln/>
        </p:spPr>
        <p:txBody>
          <a:bodyPr wrap="none" lIns="0" tIns="0" rIns="0" bIns="0" rtlCol="0" anchor="t"/>
          <a:lstStyle/>
          <a:p>
            <a:pPr marL="0" indent="0" algn="l">
              <a:lnSpc>
                <a:spcPct val="104000"/>
              </a:lnSpc>
              <a:buNone/>
            </a:pPr>
            <a:r>
              <a:rPr lang="en-US" sz="900" dirty="0">
                <a:solidFill>
                  <a:srgbClr val="FFFFFF"/>
                </a:solidFill>
                <a:latin typeface="Alexandria SemiBold" pitchFamily="34" charset="0"/>
                <a:ea typeface="Alexandria SemiBold" pitchFamily="34" charset="-122"/>
                <a:cs typeface="Alexandria SemiBold" pitchFamily="34" charset="-120"/>
              </a:rPr>
              <a:t>Retrieve Logs</a:t>
            </a:r>
            <a:endParaRPr lang="en-US" sz="900" dirty="0"/>
          </a:p>
        </p:txBody>
      </p:sp>
      <p:pic>
        <p:nvPicPr>
          <p:cNvPr id="9" name="Image 1" descr="preencoded.png"/>
          <p:cNvPicPr>
            <a:picLocks noChangeAspect="1"/>
          </p:cNvPicPr>
          <p:nvPr/>
        </p:nvPicPr>
        <p:blipFill>
          <a:blip r:embed="rId4"/>
          <a:stretch>
            <a:fillRect/>
          </a:stretch>
        </p:blipFill>
        <p:spPr>
          <a:xfrm>
            <a:off x="2113136" y="2961084"/>
            <a:ext cx="3138636" cy="1778496"/>
          </a:xfrm>
          <a:prstGeom prst="rect">
            <a:avLst/>
          </a:prstGeom>
        </p:spPr>
      </p:pic>
      <p:sp>
        <p:nvSpPr>
          <p:cNvPr id="10" name="Text 6"/>
          <p:cNvSpPr/>
          <p:nvPr/>
        </p:nvSpPr>
        <p:spPr>
          <a:xfrm>
            <a:off x="5421734" y="3006626"/>
            <a:ext cx="1613743" cy="534665"/>
          </a:xfrm>
          <a:prstGeom prst="rect">
            <a:avLst/>
          </a:prstGeom>
          <a:noFill/>
          <a:ln/>
        </p:spPr>
        <p:txBody>
          <a:bodyPr wrap="square" lIns="0" tIns="0" rIns="0" bIns="0" rtlCol="0" anchor="t">
            <a:normAutofit/>
          </a:bodyPr>
          <a:lstStyle/>
          <a:p>
            <a:pPr marL="0" indent="0" algn="l">
              <a:lnSpc>
                <a:spcPct val="104000"/>
              </a:lnSpc>
              <a:buNone/>
            </a:pPr>
            <a:r>
              <a:rPr lang="en-US" sz="1100" dirty="0">
                <a:solidFill>
                  <a:srgbClr val="1F1E1E"/>
                </a:solidFill>
                <a:latin typeface="Alexandria SemiBold" pitchFamily="34" charset="0"/>
                <a:ea typeface="Alexandria SemiBold" pitchFamily="34" charset="-122"/>
                <a:cs typeface="Alexandria SemiBold" pitchFamily="34" charset="-120"/>
              </a:rPr>
              <a:t>Example: “Why is redis-cache unhealthy?”</a:t>
            </a:r>
            <a:endParaRPr lang="en-US" sz="1100" dirty="0"/>
          </a:p>
        </p:txBody>
      </p:sp>
      <p:sp>
        <p:nvSpPr>
          <p:cNvPr id="11" name="Text 7"/>
          <p:cNvSpPr/>
          <p:nvPr/>
        </p:nvSpPr>
        <p:spPr>
          <a:xfrm>
            <a:off x="5421734" y="3575075"/>
            <a:ext cx="1613743" cy="685577"/>
          </a:xfrm>
          <a:prstGeom prst="rect">
            <a:avLst/>
          </a:prstGeom>
          <a:noFill/>
          <a:ln/>
        </p:spPr>
        <p:txBody>
          <a:bodyPr wrap="square" lIns="0" tIns="0" rIns="0" bIns="0" rtlCol="0" anchor="t">
            <a:normAutofit/>
          </a:bodyPr>
          <a:lstStyle/>
          <a:p>
            <a:pPr marL="342900" indent="-342900" algn="l">
              <a:lnSpc>
                <a:spcPct val="100000"/>
              </a:lnSpc>
              <a:buSzPct val="100000"/>
              <a:buChar char="•"/>
            </a:pPr>
            <a:r>
              <a:rPr lang="en-US" sz="500" dirty="0">
                <a:solidFill>
                  <a:srgbClr val="3B3535"/>
                </a:solidFill>
                <a:latin typeface="Sora Light" pitchFamily="34" charset="0"/>
                <a:ea typeface="Sora Light" pitchFamily="34" charset="-122"/>
                <a:cs typeface="Sora Light" pitchFamily="34" charset="-120"/>
              </a:rPr>
              <a:t>Retrieve Logs — fetch container stdout/stderr and system logs</a:t>
            </a:r>
            <a:endParaRPr lang="en-US" sz="500" dirty="0"/>
          </a:p>
          <a:p>
            <a:pPr marL="342900" indent="-342900" algn="l">
              <a:lnSpc>
                <a:spcPct val="100000"/>
              </a:lnSpc>
              <a:buSzPct val="100000"/>
              <a:buChar char="•"/>
            </a:pPr>
            <a:r>
              <a:rPr lang="en-US" sz="500" dirty="0">
                <a:solidFill>
                  <a:srgbClr val="3B3535"/>
                </a:solidFill>
                <a:latin typeface="Sora Light" pitchFamily="34" charset="0"/>
                <a:ea typeface="Sora Light" pitchFamily="34" charset="-122"/>
                <a:cs typeface="Sora Light" pitchFamily="34" charset="-120"/>
              </a:rPr>
              <a:t>Analyze Logs — pattern-match errors and stack traces</a:t>
            </a:r>
            <a:endParaRPr lang="en-US" sz="500" dirty="0"/>
          </a:p>
          <a:p>
            <a:pPr marL="342900" indent="-342900" algn="l">
              <a:lnSpc>
                <a:spcPct val="100000"/>
              </a:lnSpc>
              <a:buSzPct val="100000"/>
              <a:buChar char="•"/>
            </a:pPr>
            <a:r>
              <a:rPr lang="en-US" sz="500" dirty="0">
                <a:solidFill>
                  <a:srgbClr val="3B3535"/>
                </a:solidFill>
                <a:latin typeface="Sora Light" pitchFamily="34" charset="0"/>
                <a:ea typeface="Sora Light" pitchFamily="34" charset="-122"/>
                <a:cs typeface="Sora Light" pitchFamily="34" charset="-120"/>
              </a:rPr>
              <a:t>Generate Explanation — produce human-readable cause</a:t>
            </a:r>
            <a:endParaRPr lang="en-US" sz="500" dirty="0"/>
          </a:p>
          <a:p>
            <a:pPr marL="342900" indent="-342900" algn="l">
              <a:lnSpc>
                <a:spcPct val="100000"/>
              </a:lnSpc>
              <a:buSzPct val="100000"/>
              <a:buChar char="•"/>
            </a:pPr>
            <a:r>
              <a:rPr lang="en-US" sz="500" dirty="0">
                <a:solidFill>
                  <a:srgbClr val="3B3535"/>
                </a:solidFill>
                <a:latin typeface="Sora Light" pitchFamily="34" charset="0"/>
                <a:ea typeface="Sora Light" pitchFamily="34" charset="-122"/>
                <a:cs typeface="Sora Light" pitchFamily="34" charset="-120"/>
              </a:rPr>
              <a:t>Recommend Fix — actionable remediation steps</a:t>
            </a:r>
            <a:endParaRPr lang="en-US" sz="500" dirty="0"/>
          </a:p>
        </p:txBody>
      </p:sp>
      <p:sp>
        <p:nvSpPr>
          <p:cNvPr id="12" name="Text 8"/>
          <p:cNvSpPr/>
          <p:nvPr/>
        </p:nvSpPr>
        <p:spPr>
          <a:xfrm>
            <a:off x="5421734" y="4291087"/>
            <a:ext cx="1613743" cy="406301"/>
          </a:xfrm>
          <a:prstGeom prst="rect">
            <a:avLst/>
          </a:prstGeom>
          <a:noFill/>
          <a:ln/>
        </p:spPr>
        <p:txBody>
          <a:bodyPr wrap="square" lIns="0" tIns="0" rIns="0" bIns="0" rtlCol="0" anchor="t">
            <a:normAutofit/>
          </a:bodyPr>
          <a:lstStyle/>
          <a:p>
            <a:pPr marL="0" indent="0" algn="l">
              <a:lnSpc>
                <a:spcPct val="100000"/>
              </a:lnSpc>
              <a:buNone/>
            </a:pPr>
            <a:r>
              <a:rPr lang="en-US" sz="500" b="1" dirty="0">
                <a:solidFill>
                  <a:srgbClr val="3B3535"/>
                </a:solidFill>
                <a:latin typeface="Sora Light" pitchFamily="34" charset="0"/>
                <a:ea typeface="Sora Light" pitchFamily="34" charset="-122"/>
                <a:cs typeface="Sora Light" pitchFamily="34" charset="-120"/>
              </a:rPr>
              <a:t>Example Output</a:t>
            </a:r>
            <a:r>
              <a:rPr lang="en-US" sz="500" dirty="0">
                <a:solidFill>
                  <a:srgbClr val="3B3535"/>
                </a:solidFill>
                <a:latin typeface="Sora Light" pitchFamily="34" charset="0"/>
                <a:ea typeface="Sora Light" pitchFamily="34" charset="-122"/>
                <a:cs typeface="Sora Light" pitchFamily="34" charset="-120"/>
              </a:rPr>
              <a:t>: Likely Cause — Database connection failure. Evidence — "connection refused" messages observed. Recommended Action — Verify PostgreSQL availability and network bindings.</a:t>
            </a:r>
            <a:endParaRPr lang="en-US" sz="500" dirty="0"/>
          </a:p>
        </p:txBody>
      </p:sp>
      <p:pic>
        <p:nvPicPr>
          <p:cNvPr id="13" name="Picture 12">
            <a:extLst>
              <a:ext uri="{FF2B5EF4-FFF2-40B4-BE49-F238E27FC236}">
                <a16:creationId xmlns:a16="http://schemas.microsoft.com/office/drawing/2014/main" id="{E4E46817-4966-0375-0758-FBA09ADCB49F}"/>
              </a:ext>
            </a:extLst>
          </p:cNvPr>
          <p:cNvPicPr>
            <a:picLocks noChangeAspect="1"/>
          </p:cNvPicPr>
          <p:nvPr/>
        </p:nvPicPr>
        <p:blipFill>
          <a:blip r:embed="rId5"/>
          <a:stretch>
            <a:fillRect/>
          </a:stretch>
        </p:blipFill>
        <p:spPr>
          <a:xfrm>
            <a:off x="7078801" y="4799711"/>
            <a:ext cx="2065199" cy="3437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0076" y="379661"/>
            <a:ext cx="8129960" cy="347960"/>
          </a:xfrm>
          <a:prstGeom prst="rect">
            <a:avLst/>
          </a:prstGeom>
          <a:noFill/>
          <a:ln/>
        </p:spPr>
        <p:txBody>
          <a:bodyPr wrap="none" lIns="0" tIns="0" rIns="0" bIns="0" rtlCol="0" anchor="t"/>
          <a:lstStyle/>
          <a:p>
            <a:pPr marL="0" indent="0" algn="l">
              <a:lnSpc>
                <a:spcPct val="104000"/>
              </a:lnSpc>
              <a:buNone/>
            </a:pPr>
            <a:r>
              <a:rPr lang="en-US" sz="2150" dirty="0">
                <a:solidFill>
                  <a:srgbClr val="1F1E1E"/>
                </a:solidFill>
                <a:latin typeface="Alexandria SemiBold" pitchFamily="34" charset="0"/>
                <a:ea typeface="Alexandria SemiBold" pitchFamily="34" charset="-122"/>
                <a:cs typeface="Alexandria SemiBold" pitchFamily="34" charset="-120"/>
              </a:rPr>
              <a:t>Project Outcome — Results, Future Scope &amp; Conclusion</a:t>
            </a:r>
            <a:endParaRPr lang="en-US" sz="2150" dirty="0"/>
          </a:p>
        </p:txBody>
      </p:sp>
      <p:sp>
        <p:nvSpPr>
          <p:cNvPr id="3" name="Text 1"/>
          <p:cNvSpPr/>
          <p:nvPr/>
        </p:nvSpPr>
        <p:spPr>
          <a:xfrm>
            <a:off x="730076" y="892894"/>
            <a:ext cx="8140973" cy="150763"/>
          </a:xfrm>
          <a:prstGeom prst="rect">
            <a:avLst/>
          </a:prstGeom>
          <a:noFill/>
          <a:ln/>
        </p:spPr>
        <p:txBody>
          <a:bodyPr wrap="none" lIns="0" tIns="0" rIns="0" bIns="0" rtlCol="0" anchor="t"/>
          <a:lstStyle/>
          <a:p>
            <a:pPr marL="0" indent="0" algn="l">
              <a:lnSpc>
                <a:spcPct val="119000"/>
              </a:lnSpc>
              <a:buNone/>
            </a:pPr>
            <a:r>
              <a:rPr lang="en-US" sz="800" dirty="0">
                <a:solidFill>
                  <a:srgbClr val="3B3535"/>
                </a:solidFill>
                <a:latin typeface="Sora Light" pitchFamily="34" charset="0"/>
                <a:ea typeface="Sora Light" pitchFamily="34" charset="-122"/>
                <a:cs typeface="Sora Light" pitchFamily="34" charset="-120"/>
              </a:rPr>
              <a:t>A compact synthesis of achievements, roadmap opportunities, and the project's core value proposition for DevOps teams.</a:t>
            </a:r>
            <a:endParaRPr lang="en-US" sz="800" dirty="0"/>
          </a:p>
        </p:txBody>
      </p:sp>
      <p:sp>
        <p:nvSpPr>
          <p:cNvPr id="4" name="Shape 2"/>
          <p:cNvSpPr/>
          <p:nvPr/>
        </p:nvSpPr>
        <p:spPr>
          <a:xfrm>
            <a:off x="730076" y="1136600"/>
            <a:ext cx="2506191" cy="746075"/>
          </a:xfrm>
          <a:prstGeom prst="roundRect">
            <a:avLst>
              <a:gd name="adj" fmla="val 5956"/>
            </a:avLst>
          </a:prstGeom>
          <a:solidFill>
            <a:srgbClr val="D5DCF6"/>
          </a:solidFill>
          <a:ln w="4763">
            <a:solidFill>
              <a:srgbClr val="BBC2DC"/>
            </a:solidFill>
            <a:prstDash val="solid"/>
          </a:ln>
        </p:spPr>
        <p:txBody>
          <a:bodyPr/>
          <a:lstStyle/>
          <a:p>
            <a:endParaRPr lang="en-IN"/>
          </a:p>
        </p:txBody>
      </p:sp>
      <p:sp>
        <p:nvSpPr>
          <p:cNvPr id="5" name="Text 3"/>
          <p:cNvSpPr/>
          <p:nvPr/>
        </p:nvSpPr>
        <p:spPr>
          <a:xfrm>
            <a:off x="840581" y="1247105"/>
            <a:ext cx="2075111" cy="173980"/>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Natural Language Monitoring</a:t>
            </a:r>
            <a:endParaRPr lang="en-US" sz="1050" dirty="0"/>
          </a:p>
        </p:txBody>
      </p:sp>
      <p:sp>
        <p:nvSpPr>
          <p:cNvPr id="6" name="Text 4"/>
          <p:cNvSpPr/>
          <p:nvPr/>
        </p:nvSpPr>
        <p:spPr>
          <a:xfrm>
            <a:off x="840581" y="1470645"/>
            <a:ext cx="2285181" cy="301526"/>
          </a:xfrm>
          <a:prstGeom prst="rect">
            <a:avLst/>
          </a:prstGeom>
          <a:noFill/>
          <a:ln/>
        </p:spPr>
        <p:txBody>
          <a:bodyPr wrap="square" lIns="0" tIns="0" rIns="0" bIns="0" rtlCol="0" anchor="t">
            <a:normAutofit/>
          </a:bodyPr>
          <a:lstStyle/>
          <a:p>
            <a:pPr marL="0" indent="0" algn="l">
              <a:lnSpc>
                <a:spcPct val="119000"/>
              </a:lnSpc>
              <a:buNone/>
            </a:pPr>
            <a:r>
              <a:rPr lang="en-US" sz="800" dirty="0">
                <a:solidFill>
                  <a:srgbClr val="3B3535"/>
                </a:solidFill>
                <a:latin typeface="Sora Light" pitchFamily="34" charset="0"/>
                <a:ea typeface="Sora Light" pitchFamily="34" charset="-122"/>
                <a:cs typeface="Sora Light" pitchFamily="34" charset="-120"/>
              </a:rPr>
              <a:t>Users query infrastructure in plain language—no CLI required.</a:t>
            </a:r>
            <a:endParaRPr lang="en-US" sz="800" dirty="0"/>
          </a:p>
        </p:txBody>
      </p:sp>
      <p:sp>
        <p:nvSpPr>
          <p:cNvPr id="7" name="Shape 5"/>
          <p:cNvSpPr/>
          <p:nvPr/>
        </p:nvSpPr>
        <p:spPr>
          <a:xfrm>
            <a:off x="3318867" y="1136600"/>
            <a:ext cx="2506191" cy="746075"/>
          </a:xfrm>
          <a:prstGeom prst="roundRect">
            <a:avLst>
              <a:gd name="adj" fmla="val 5956"/>
            </a:avLst>
          </a:prstGeom>
          <a:solidFill>
            <a:srgbClr val="D5DCF6"/>
          </a:solidFill>
          <a:ln w="4763">
            <a:solidFill>
              <a:srgbClr val="BBC2DC"/>
            </a:solidFill>
            <a:prstDash val="solid"/>
          </a:ln>
        </p:spPr>
        <p:txBody>
          <a:bodyPr/>
          <a:lstStyle/>
          <a:p>
            <a:endParaRPr lang="en-IN"/>
          </a:p>
        </p:txBody>
      </p:sp>
      <p:sp>
        <p:nvSpPr>
          <p:cNvPr id="8" name="Text 6"/>
          <p:cNvSpPr/>
          <p:nvPr/>
        </p:nvSpPr>
        <p:spPr>
          <a:xfrm>
            <a:off x="3429372" y="1247105"/>
            <a:ext cx="1424434" cy="173980"/>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AI-Powered Insights</a:t>
            </a:r>
            <a:endParaRPr lang="en-US" sz="1050" dirty="0"/>
          </a:p>
        </p:txBody>
      </p:sp>
      <p:sp>
        <p:nvSpPr>
          <p:cNvPr id="9" name="Text 7"/>
          <p:cNvSpPr/>
          <p:nvPr/>
        </p:nvSpPr>
        <p:spPr>
          <a:xfrm>
            <a:off x="3429372" y="1470645"/>
            <a:ext cx="2285181" cy="301526"/>
          </a:xfrm>
          <a:prstGeom prst="rect">
            <a:avLst/>
          </a:prstGeom>
          <a:noFill/>
          <a:ln/>
        </p:spPr>
        <p:txBody>
          <a:bodyPr wrap="square" lIns="0" tIns="0" rIns="0" bIns="0" rtlCol="0" anchor="t">
            <a:normAutofit/>
          </a:bodyPr>
          <a:lstStyle/>
          <a:p>
            <a:pPr marL="0" indent="0" algn="l">
              <a:lnSpc>
                <a:spcPct val="119000"/>
              </a:lnSpc>
              <a:buNone/>
            </a:pPr>
            <a:r>
              <a:rPr lang="en-US" sz="800" dirty="0">
                <a:solidFill>
                  <a:srgbClr val="3B3535"/>
                </a:solidFill>
                <a:latin typeface="Sora Light" pitchFamily="34" charset="0"/>
                <a:ea typeface="Sora Light" pitchFamily="34" charset="-122"/>
                <a:cs typeface="Sora Light" pitchFamily="34" charset="-120"/>
              </a:rPr>
              <a:t>Log analysis and root-cause summaries produced automatically.</a:t>
            </a:r>
            <a:endParaRPr lang="en-US" sz="800" dirty="0"/>
          </a:p>
        </p:txBody>
      </p:sp>
      <p:sp>
        <p:nvSpPr>
          <p:cNvPr id="10" name="Shape 8"/>
          <p:cNvSpPr/>
          <p:nvPr/>
        </p:nvSpPr>
        <p:spPr>
          <a:xfrm>
            <a:off x="5907658" y="1136600"/>
            <a:ext cx="2506191" cy="746075"/>
          </a:xfrm>
          <a:prstGeom prst="roundRect">
            <a:avLst>
              <a:gd name="adj" fmla="val 5956"/>
            </a:avLst>
          </a:prstGeom>
          <a:solidFill>
            <a:srgbClr val="D5DCF6"/>
          </a:solidFill>
          <a:ln w="4763">
            <a:solidFill>
              <a:srgbClr val="BBC2DC"/>
            </a:solidFill>
            <a:prstDash val="solid"/>
          </a:ln>
        </p:spPr>
        <p:txBody>
          <a:bodyPr/>
          <a:lstStyle/>
          <a:p>
            <a:endParaRPr lang="en-IN"/>
          </a:p>
        </p:txBody>
      </p:sp>
      <p:sp>
        <p:nvSpPr>
          <p:cNvPr id="11" name="Text 9"/>
          <p:cNvSpPr/>
          <p:nvPr/>
        </p:nvSpPr>
        <p:spPr>
          <a:xfrm>
            <a:off x="6018163" y="1247105"/>
            <a:ext cx="1391989" cy="173980"/>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Docker Integration</a:t>
            </a:r>
            <a:endParaRPr lang="en-US" sz="1050" dirty="0"/>
          </a:p>
        </p:txBody>
      </p:sp>
      <p:sp>
        <p:nvSpPr>
          <p:cNvPr id="12" name="Text 10"/>
          <p:cNvSpPr/>
          <p:nvPr/>
        </p:nvSpPr>
        <p:spPr>
          <a:xfrm>
            <a:off x="6018163" y="1470645"/>
            <a:ext cx="2285181" cy="301526"/>
          </a:xfrm>
          <a:prstGeom prst="rect">
            <a:avLst/>
          </a:prstGeom>
          <a:noFill/>
          <a:ln/>
        </p:spPr>
        <p:txBody>
          <a:bodyPr wrap="square" lIns="0" tIns="0" rIns="0" bIns="0" rtlCol="0" anchor="t">
            <a:normAutofit/>
          </a:bodyPr>
          <a:lstStyle/>
          <a:p>
            <a:pPr marL="0" indent="0" algn="l">
              <a:lnSpc>
                <a:spcPct val="119000"/>
              </a:lnSpc>
              <a:buNone/>
            </a:pPr>
            <a:r>
              <a:rPr lang="en-US" sz="800" dirty="0">
                <a:solidFill>
                  <a:srgbClr val="3B3535"/>
                </a:solidFill>
                <a:latin typeface="Sora Light" pitchFamily="34" charset="0"/>
                <a:ea typeface="Sora Light" pitchFamily="34" charset="-122"/>
                <a:cs typeface="Sora Light" pitchFamily="34" charset="-120"/>
              </a:rPr>
              <a:t>Direct control and data retrieval via Docker SDK and daemon.</a:t>
            </a:r>
            <a:endParaRPr lang="en-US" sz="800" dirty="0"/>
          </a:p>
        </p:txBody>
      </p:sp>
      <p:sp>
        <p:nvSpPr>
          <p:cNvPr id="13" name="Shape 11"/>
          <p:cNvSpPr/>
          <p:nvPr/>
        </p:nvSpPr>
        <p:spPr>
          <a:xfrm>
            <a:off x="730076" y="1965275"/>
            <a:ext cx="3800549" cy="595313"/>
          </a:xfrm>
          <a:prstGeom prst="roundRect">
            <a:avLst>
              <a:gd name="adj" fmla="val 7464"/>
            </a:avLst>
          </a:prstGeom>
          <a:solidFill>
            <a:srgbClr val="D5DCF6"/>
          </a:solidFill>
          <a:ln w="4763">
            <a:solidFill>
              <a:srgbClr val="BBC2DC"/>
            </a:solidFill>
            <a:prstDash val="solid"/>
          </a:ln>
        </p:spPr>
        <p:txBody>
          <a:bodyPr/>
          <a:lstStyle/>
          <a:p>
            <a:endParaRPr lang="en-IN"/>
          </a:p>
        </p:txBody>
      </p:sp>
      <p:sp>
        <p:nvSpPr>
          <p:cNvPr id="14" name="Text 12"/>
          <p:cNvSpPr/>
          <p:nvPr/>
        </p:nvSpPr>
        <p:spPr>
          <a:xfrm>
            <a:off x="840581" y="2075780"/>
            <a:ext cx="1391989" cy="173980"/>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Agent Loop</a:t>
            </a:r>
            <a:endParaRPr lang="en-US" sz="1050" dirty="0"/>
          </a:p>
        </p:txBody>
      </p:sp>
      <p:sp>
        <p:nvSpPr>
          <p:cNvPr id="15" name="Text 13"/>
          <p:cNvSpPr/>
          <p:nvPr/>
        </p:nvSpPr>
        <p:spPr>
          <a:xfrm>
            <a:off x="840581" y="2299320"/>
            <a:ext cx="3579540" cy="150763"/>
          </a:xfrm>
          <a:prstGeom prst="rect">
            <a:avLst/>
          </a:prstGeom>
          <a:noFill/>
          <a:ln/>
        </p:spPr>
        <p:txBody>
          <a:bodyPr wrap="none" lIns="0" tIns="0" rIns="0" bIns="0" rtlCol="0" anchor="t"/>
          <a:lstStyle/>
          <a:p>
            <a:pPr marL="0" indent="0" algn="l">
              <a:lnSpc>
                <a:spcPct val="119000"/>
              </a:lnSpc>
              <a:buNone/>
            </a:pPr>
            <a:r>
              <a:rPr lang="en-US" sz="800" dirty="0">
                <a:solidFill>
                  <a:srgbClr val="3B3535"/>
                </a:solidFill>
                <a:latin typeface="Sora Light" pitchFamily="34" charset="0"/>
                <a:ea typeface="Sora Light" pitchFamily="34" charset="-122"/>
                <a:cs typeface="Sora Light" pitchFamily="34" charset="-120"/>
              </a:rPr>
              <a:t>Autonomous, retry-capable execution with validation steps.</a:t>
            </a:r>
            <a:endParaRPr lang="en-US" sz="800" dirty="0"/>
          </a:p>
        </p:txBody>
      </p:sp>
      <p:sp>
        <p:nvSpPr>
          <p:cNvPr id="16" name="Shape 14"/>
          <p:cNvSpPr/>
          <p:nvPr/>
        </p:nvSpPr>
        <p:spPr>
          <a:xfrm>
            <a:off x="4613225" y="1965275"/>
            <a:ext cx="3800624" cy="595313"/>
          </a:xfrm>
          <a:prstGeom prst="roundRect">
            <a:avLst>
              <a:gd name="adj" fmla="val 7464"/>
            </a:avLst>
          </a:prstGeom>
          <a:solidFill>
            <a:srgbClr val="D5DCF6"/>
          </a:solidFill>
          <a:ln w="4763">
            <a:solidFill>
              <a:srgbClr val="BBC2DC"/>
            </a:solidFill>
            <a:prstDash val="solid"/>
          </a:ln>
        </p:spPr>
        <p:txBody>
          <a:bodyPr/>
          <a:lstStyle/>
          <a:p>
            <a:endParaRPr lang="en-IN"/>
          </a:p>
        </p:txBody>
      </p:sp>
      <p:sp>
        <p:nvSpPr>
          <p:cNvPr id="17" name="Text 15"/>
          <p:cNvSpPr/>
          <p:nvPr/>
        </p:nvSpPr>
        <p:spPr>
          <a:xfrm>
            <a:off x="4723730" y="2075780"/>
            <a:ext cx="1702445" cy="173980"/>
          </a:xfrm>
          <a:prstGeom prst="rect">
            <a:avLst/>
          </a:prstGeom>
          <a:noFill/>
          <a:ln/>
        </p:spPr>
        <p:txBody>
          <a:bodyPr wrap="none" lIns="0" tIns="0" rIns="0" bIns="0" rtlCol="0" anchor="t"/>
          <a:lstStyle/>
          <a:p>
            <a:pPr marL="0" indent="0" algn="l">
              <a:lnSpc>
                <a:spcPct val="104000"/>
              </a:lnSpc>
              <a:buNone/>
            </a:pPr>
            <a:r>
              <a:rPr lang="en-US" sz="1050" dirty="0">
                <a:solidFill>
                  <a:srgbClr val="3B3535"/>
                </a:solidFill>
                <a:latin typeface="Alexandria SemiBold" pitchFamily="34" charset="0"/>
                <a:ea typeface="Alexandria SemiBold" pitchFamily="34" charset="-122"/>
                <a:cs typeface="Alexandria SemiBold" pitchFamily="34" charset="-120"/>
              </a:rPr>
              <a:t>External API Integration</a:t>
            </a:r>
            <a:endParaRPr lang="en-US" sz="1050" dirty="0"/>
          </a:p>
        </p:txBody>
      </p:sp>
      <p:sp>
        <p:nvSpPr>
          <p:cNvPr id="18" name="Text 16"/>
          <p:cNvSpPr/>
          <p:nvPr/>
        </p:nvSpPr>
        <p:spPr>
          <a:xfrm>
            <a:off x="4723730" y="2299320"/>
            <a:ext cx="3579614" cy="150763"/>
          </a:xfrm>
          <a:prstGeom prst="rect">
            <a:avLst/>
          </a:prstGeom>
          <a:noFill/>
          <a:ln/>
        </p:spPr>
        <p:txBody>
          <a:bodyPr wrap="none" lIns="0" tIns="0" rIns="0" bIns="0" rtlCol="0" anchor="t"/>
          <a:lstStyle/>
          <a:p>
            <a:pPr marL="0" indent="0" algn="l">
              <a:lnSpc>
                <a:spcPct val="119000"/>
              </a:lnSpc>
              <a:buNone/>
            </a:pPr>
            <a:r>
              <a:rPr lang="en-US" sz="800" dirty="0">
                <a:solidFill>
                  <a:srgbClr val="3B3535"/>
                </a:solidFill>
                <a:latin typeface="Sora Light" pitchFamily="34" charset="0"/>
                <a:ea typeface="Sora Light" pitchFamily="34" charset="-122"/>
                <a:cs typeface="Sora Light" pitchFamily="34" charset="-120"/>
              </a:rPr>
              <a:t>Supports calls to monitoring APIs and third-party services.</a:t>
            </a:r>
            <a:endParaRPr lang="en-US" sz="800" dirty="0"/>
          </a:p>
        </p:txBody>
      </p:sp>
      <p:sp>
        <p:nvSpPr>
          <p:cNvPr id="19" name="Text 17"/>
          <p:cNvSpPr/>
          <p:nvPr/>
        </p:nvSpPr>
        <p:spPr>
          <a:xfrm>
            <a:off x="730076" y="2975566"/>
            <a:ext cx="1849189" cy="173980"/>
          </a:xfrm>
          <a:prstGeom prst="rect">
            <a:avLst/>
          </a:prstGeom>
          <a:noFill/>
          <a:ln/>
        </p:spPr>
        <p:txBody>
          <a:bodyPr wrap="none" lIns="0" tIns="0" rIns="0" bIns="0" rtlCol="0" anchor="t"/>
          <a:lstStyle/>
          <a:p>
            <a:pPr marL="0" indent="0" algn="l">
              <a:lnSpc>
                <a:spcPct val="104000"/>
              </a:lnSpc>
              <a:buNone/>
            </a:pPr>
            <a:r>
              <a:rPr lang="en-US" sz="1050" dirty="0">
                <a:solidFill>
                  <a:srgbClr val="1F1E1E"/>
                </a:solidFill>
                <a:latin typeface="Alexandria SemiBold" pitchFamily="34" charset="0"/>
                <a:ea typeface="Alexandria SemiBold" pitchFamily="34" charset="-122"/>
                <a:cs typeface="Alexandria SemiBold" pitchFamily="34" charset="-120"/>
              </a:rPr>
              <a:t>Future Scope</a:t>
            </a:r>
            <a:endParaRPr lang="en-US" sz="1050" dirty="0"/>
          </a:p>
        </p:txBody>
      </p:sp>
      <p:sp>
        <p:nvSpPr>
          <p:cNvPr id="20" name="Text 18"/>
          <p:cNvSpPr/>
          <p:nvPr/>
        </p:nvSpPr>
        <p:spPr>
          <a:xfrm>
            <a:off x="688738" y="3378592"/>
            <a:ext cx="7683773" cy="689670"/>
          </a:xfrm>
          <a:prstGeom prst="rect">
            <a:avLst/>
          </a:prstGeom>
          <a:noFill/>
          <a:ln/>
        </p:spPr>
        <p:txBody>
          <a:bodyPr wrap="square" lIns="0" tIns="0" rIns="0" bIns="0" rtlCol="0" anchor="t">
            <a:normAutofit/>
          </a:bodyPr>
          <a:lstStyle/>
          <a:p>
            <a:pPr marL="342900" indent="-342900" algn="l">
              <a:lnSpc>
                <a:spcPct val="119000"/>
              </a:lnSpc>
              <a:buSzPct val="100000"/>
              <a:buChar char="•"/>
            </a:pPr>
            <a:r>
              <a:rPr lang="en-US" sz="800" dirty="0">
                <a:solidFill>
                  <a:srgbClr val="3B3535"/>
                </a:solidFill>
                <a:latin typeface="Sora Light" pitchFamily="34" charset="0"/>
                <a:ea typeface="Sora Light" pitchFamily="34" charset="-122"/>
                <a:cs typeface="Sora Light" pitchFamily="34" charset="-120"/>
              </a:rPr>
              <a:t>Kubernetes monitoring and cluster-level orchestration</a:t>
            </a:r>
            <a:endParaRPr lang="en-US" sz="800" dirty="0"/>
          </a:p>
          <a:p>
            <a:pPr marL="342900" indent="-342900" algn="l">
              <a:lnSpc>
                <a:spcPct val="119000"/>
              </a:lnSpc>
              <a:buSzPct val="100000"/>
              <a:buChar char="•"/>
            </a:pPr>
            <a:r>
              <a:rPr lang="en-US" sz="800" dirty="0">
                <a:solidFill>
                  <a:srgbClr val="3B3535"/>
                </a:solidFill>
                <a:latin typeface="Sora Light" pitchFamily="34" charset="0"/>
                <a:ea typeface="Sora Light" pitchFamily="34" charset="-122"/>
                <a:cs typeface="Sora Light" pitchFamily="34" charset="-120"/>
              </a:rPr>
              <a:t>Predictive failure detection using historical telemetry</a:t>
            </a:r>
            <a:endParaRPr lang="en-US" sz="800" dirty="0"/>
          </a:p>
          <a:p>
            <a:pPr marL="342900" indent="-342900" algn="l">
              <a:lnSpc>
                <a:spcPct val="119000"/>
              </a:lnSpc>
              <a:buSzPct val="100000"/>
              <a:buChar char="•"/>
            </a:pPr>
            <a:r>
              <a:rPr lang="en-US" sz="800" dirty="0">
                <a:solidFill>
                  <a:srgbClr val="3B3535"/>
                </a:solidFill>
                <a:latin typeface="Sora Light" pitchFamily="34" charset="0"/>
                <a:ea typeface="Sora Light" pitchFamily="34" charset="-122"/>
                <a:cs typeface="Sora Light" pitchFamily="34" charset="-120"/>
              </a:rPr>
              <a:t>Slack notifications and email alerts for rapid ops response</a:t>
            </a:r>
            <a:endParaRPr lang="en-US" sz="800" dirty="0"/>
          </a:p>
          <a:p>
            <a:pPr marL="342900" indent="-342900" algn="l">
              <a:lnSpc>
                <a:spcPct val="119000"/>
              </a:lnSpc>
              <a:buSzPct val="100000"/>
              <a:buChar char="•"/>
            </a:pPr>
            <a:r>
              <a:rPr lang="en-US" sz="800" dirty="0">
                <a:solidFill>
                  <a:srgbClr val="3B3535"/>
                </a:solidFill>
                <a:latin typeface="Sora Light" pitchFamily="34" charset="0"/>
                <a:ea typeface="Sora Light" pitchFamily="34" charset="-122"/>
                <a:cs typeface="Sora Light" pitchFamily="34" charset="-120"/>
              </a:rPr>
              <a:t>Multi-host monitoring with secure agent tunnels</a:t>
            </a:r>
            <a:endParaRPr lang="en-US" sz="800" dirty="0"/>
          </a:p>
        </p:txBody>
      </p:sp>
      <p:pic>
        <p:nvPicPr>
          <p:cNvPr id="26" name="Picture 25">
            <a:extLst>
              <a:ext uri="{FF2B5EF4-FFF2-40B4-BE49-F238E27FC236}">
                <a16:creationId xmlns:a16="http://schemas.microsoft.com/office/drawing/2014/main" id="{E6FEC1CA-5B43-5158-BBD9-554C5E371005}"/>
              </a:ext>
            </a:extLst>
          </p:cNvPr>
          <p:cNvPicPr>
            <a:picLocks noChangeAspect="1"/>
          </p:cNvPicPr>
          <p:nvPr/>
        </p:nvPicPr>
        <p:blipFill>
          <a:blip r:embed="rId3"/>
          <a:stretch>
            <a:fillRect/>
          </a:stretch>
        </p:blipFill>
        <p:spPr>
          <a:xfrm>
            <a:off x="7078801" y="4800824"/>
            <a:ext cx="2065199" cy="3437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6B239-C217-4F22-BF99-9C4B9F08FA8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CDB237F-7B9C-7458-C3F3-0F90911C9C66}"/>
              </a:ext>
            </a:extLst>
          </p:cNvPr>
          <p:cNvSpPr/>
          <p:nvPr/>
        </p:nvSpPr>
        <p:spPr>
          <a:xfrm>
            <a:off x="473943" y="550664"/>
            <a:ext cx="4651549" cy="445443"/>
          </a:xfrm>
          <a:prstGeom prst="rect">
            <a:avLst/>
          </a:prstGeom>
          <a:noFill/>
          <a:ln/>
        </p:spPr>
        <p:txBody>
          <a:bodyPr wrap="none" lIns="0" tIns="0" rIns="0" bIns="0" rtlCol="0" anchor="t"/>
          <a:lstStyle/>
          <a:p>
            <a:pPr marL="0" indent="0" algn="l">
              <a:lnSpc>
                <a:spcPct val="104000"/>
              </a:lnSpc>
              <a:buNone/>
            </a:pPr>
            <a:r>
              <a:rPr lang="en-US" sz="2800" dirty="0">
                <a:solidFill>
                  <a:srgbClr val="1F1E1E"/>
                </a:solidFill>
                <a:latin typeface="Alexandria SemiBold" pitchFamily="34" charset="0"/>
                <a:ea typeface="Alexandria SemiBold" pitchFamily="34" charset="-122"/>
                <a:cs typeface="Alexandria SemiBold" pitchFamily="34" charset="-120"/>
              </a:rPr>
              <a:t>THANK YOU</a:t>
            </a:r>
            <a:endParaRPr lang="en-US" sz="2800" dirty="0"/>
          </a:p>
        </p:txBody>
      </p:sp>
      <p:sp>
        <p:nvSpPr>
          <p:cNvPr id="4" name="Text 1">
            <a:extLst>
              <a:ext uri="{FF2B5EF4-FFF2-40B4-BE49-F238E27FC236}">
                <a16:creationId xmlns:a16="http://schemas.microsoft.com/office/drawing/2014/main" id="{2FA0A620-4D20-B75B-AD46-A2FEB2ECC0E7}"/>
              </a:ext>
            </a:extLst>
          </p:cNvPr>
          <p:cNvSpPr/>
          <p:nvPr/>
        </p:nvSpPr>
        <p:spPr>
          <a:xfrm>
            <a:off x="260996" y="1691552"/>
            <a:ext cx="5288709" cy="880198"/>
          </a:xfrm>
          <a:prstGeom prst="rect">
            <a:avLst/>
          </a:prstGeom>
          <a:noFill/>
          <a:ln/>
        </p:spPr>
        <p:txBody>
          <a:bodyPr wrap="square" lIns="0" tIns="0" rIns="0" bIns="0" rtlCol="0" anchor="t">
            <a:normAutofit/>
          </a:bodyPr>
          <a:lstStyle/>
          <a:p>
            <a:pPr>
              <a:lnSpc>
                <a:spcPct val="133000"/>
              </a:lnSpc>
            </a:pPr>
            <a:r>
              <a:rPr lang="en-US" sz="1050" dirty="0">
                <a:solidFill>
                  <a:srgbClr val="3B3535"/>
                </a:solidFill>
                <a:latin typeface="Sora Light" pitchFamily="34" charset="0"/>
                <a:cs typeface="Sora Light" pitchFamily="34" charset="-120"/>
              </a:rPr>
              <a:t>Public website link : </a:t>
            </a:r>
            <a:r>
              <a:rPr lang="en-US" sz="1050" dirty="0">
                <a:solidFill>
                  <a:srgbClr val="3B3535"/>
                </a:solidFill>
                <a:latin typeface="Sora Light" pitchFamily="34" charset="0"/>
                <a:cs typeface="Sora Light" pitchFamily="34" charset="-120"/>
                <a:hlinkClick r:id="rId3"/>
              </a:rPr>
              <a:t>https://docker--project.streamlit.app/</a:t>
            </a:r>
            <a:endParaRPr lang="en-US" sz="1050" dirty="0">
              <a:solidFill>
                <a:srgbClr val="3B3535"/>
              </a:solidFill>
              <a:latin typeface="Sora Light" pitchFamily="34" charset="0"/>
              <a:cs typeface="Sora Light" pitchFamily="34" charset="-120"/>
            </a:endParaRPr>
          </a:p>
          <a:p>
            <a:pPr>
              <a:lnSpc>
                <a:spcPct val="133000"/>
              </a:lnSpc>
            </a:pPr>
            <a:endParaRPr lang="en-US" sz="1050" dirty="0">
              <a:solidFill>
                <a:srgbClr val="3B3535"/>
              </a:solidFill>
              <a:latin typeface="Sora Light" pitchFamily="34" charset="0"/>
              <a:cs typeface="Sora Light" pitchFamily="34" charset="-120"/>
            </a:endParaRPr>
          </a:p>
          <a:p>
            <a:pPr>
              <a:lnSpc>
                <a:spcPct val="133000"/>
              </a:lnSpc>
            </a:pPr>
            <a:r>
              <a:rPr lang="en-US" sz="1050" dirty="0" err="1">
                <a:solidFill>
                  <a:srgbClr val="3B3535"/>
                </a:solidFill>
                <a:latin typeface="Sora Light" pitchFamily="34" charset="0"/>
                <a:cs typeface="Sora Light" pitchFamily="34" charset="-120"/>
              </a:rPr>
              <a:t>Github</a:t>
            </a:r>
            <a:r>
              <a:rPr lang="en-US" sz="1050" dirty="0">
                <a:solidFill>
                  <a:srgbClr val="3B3535"/>
                </a:solidFill>
                <a:latin typeface="Sora Light" pitchFamily="34" charset="0"/>
                <a:cs typeface="Sora Light" pitchFamily="34" charset="-120"/>
              </a:rPr>
              <a:t> link : </a:t>
            </a:r>
            <a:r>
              <a:rPr lang="en-US" sz="1050" dirty="0">
                <a:solidFill>
                  <a:srgbClr val="3B3535"/>
                </a:solidFill>
                <a:latin typeface="Sora Light" pitchFamily="34" charset="0"/>
                <a:cs typeface="Sora Light" pitchFamily="34" charset="-120"/>
                <a:hlinkClick r:id="rId4"/>
              </a:rPr>
              <a:t>https://github.com/abinandhuk007/ai-docker-health-dashboard</a:t>
            </a:r>
            <a:endParaRPr lang="en-US" sz="1050" dirty="0"/>
          </a:p>
        </p:txBody>
      </p:sp>
      <p:pic>
        <p:nvPicPr>
          <p:cNvPr id="12" name="Picture 11">
            <a:extLst>
              <a:ext uri="{FF2B5EF4-FFF2-40B4-BE49-F238E27FC236}">
                <a16:creationId xmlns:a16="http://schemas.microsoft.com/office/drawing/2014/main" id="{EFCAE034-96CC-2426-D3FD-055FAF2F0838}"/>
              </a:ext>
            </a:extLst>
          </p:cNvPr>
          <p:cNvPicPr>
            <a:picLocks noChangeAspect="1"/>
          </p:cNvPicPr>
          <p:nvPr/>
        </p:nvPicPr>
        <p:blipFill>
          <a:blip r:embed="rId5"/>
          <a:stretch>
            <a:fillRect/>
          </a:stretch>
        </p:blipFill>
        <p:spPr>
          <a:xfrm>
            <a:off x="7078801" y="4761904"/>
            <a:ext cx="2065199" cy="343789"/>
          </a:xfrm>
          <a:prstGeom prst="rect">
            <a:avLst/>
          </a:prstGeom>
        </p:spPr>
      </p:pic>
      <p:pic>
        <p:nvPicPr>
          <p:cNvPr id="14" name="Picture 13">
            <a:extLst>
              <a:ext uri="{FF2B5EF4-FFF2-40B4-BE49-F238E27FC236}">
                <a16:creationId xmlns:a16="http://schemas.microsoft.com/office/drawing/2014/main" id="{49A12EC2-E43C-B2F2-4C40-9908EBC821DD}"/>
              </a:ext>
            </a:extLst>
          </p:cNvPr>
          <p:cNvPicPr>
            <a:picLocks noChangeAspect="1"/>
          </p:cNvPicPr>
          <p:nvPr/>
        </p:nvPicPr>
        <p:blipFill>
          <a:blip r:embed="rId6"/>
          <a:stretch>
            <a:fillRect/>
          </a:stretch>
        </p:blipFill>
        <p:spPr>
          <a:xfrm>
            <a:off x="5549705" y="548116"/>
            <a:ext cx="3556191" cy="4130398"/>
          </a:xfrm>
          <a:prstGeom prst="rect">
            <a:avLst/>
          </a:prstGeom>
        </p:spPr>
      </p:pic>
    </p:spTree>
    <p:extLst>
      <p:ext uri="{BB962C8B-B14F-4D97-AF65-F5344CB8AC3E}">
        <p14:creationId xmlns:p14="http://schemas.microsoft.com/office/powerpoint/2010/main" val="28563832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TotalTime>
  <Words>861</Words>
  <Application>Microsoft Office PowerPoint</Application>
  <PresentationFormat>On-screen Show (16:9)</PresentationFormat>
  <Paragraphs>132</Paragraphs>
  <Slides>13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Alexandria SemiBold</vt:lpstr>
      <vt:lpstr>Arial</vt:lpstr>
      <vt:lpstr>Sora Light</vt:lpstr>
      <vt:lpstr>Instrument Sans Medium</vt:lpstr>
      <vt:lpstr>Alexandria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YAMINI M K</dc:creator>
  <cp:lastModifiedBy>YAMINI M K</cp:lastModifiedBy>
  <cp:revision>8</cp:revision>
  <dcterms:created xsi:type="dcterms:W3CDTF">2026-06-14T05:54:31Z</dcterms:created>
  <dcterms:modified xsi:type="dcterms:W3CDTF">2026-06-15T04:34:46Z</dcterms:modified>
</cp:coreProperties>
</file>